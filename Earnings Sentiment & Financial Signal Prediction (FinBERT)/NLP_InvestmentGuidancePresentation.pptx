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42" r:id="rId5"/>
    <p:sldId id="359" r:id="rId6"/>
    <p:sldId id="375" r:id="rId7"/>
    <p:sldId id="388" r:id="rId8"/>
    <p:sldId id="376" r:id="rId9"/>
    <p:sldId id="377" r:id="rId10"/>
    <p:sldId id="390" r:id="rId11"/>
    <p:sldId id="382" r:id="rId12"/>
    <p:sldId id="386" r:id="rId13"/>
    <p:sldId id="384" r:id="rId14"/>
    <p:sldId id="385" r:id="rId15"/>
    <p:sldId id="379" r:id="rId16"/>
    <p:sldId id="389" r:id="rId17"/>
    <p:sldId id="380" r:id="rId18"/>
    <p:sldId id="387" r:id="rId19"/>
    <p:sldId id="3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5388" autoAdjust="0"/>
  </p:normalViewPr>
  <p:slideViewPr>
    <p:cSldViewPr snapToGrid="0" snapToObjects="1" showGuides="1">
      <p:cViewPr varScale="1">
        <p:scale>
          <a:sx n="82" d="100"/>
          <a:sy n="82" d="100"/>
        </p:scale>
        <p:origin x="278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7AA4D8-22F5-4146-958A-C82969334C28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222078-4037-461D-9AB9-B390F8048C3C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Load</a:t>
          </a:r>
        </a:p>
      </dgm:t>
    </dgm:pt>
    <dgm:pt modelId="{19D38686-04D1-4D49-8D55-FCC187EF4F01}" type="parTrans" cxnId="{66E8ECF8-1A95-4D76-BF74-24F15C315ADF}">
      <dgm:prSet/>
      <dgm:spPr/>
      <dgm:t>
        <a:bodyPr/>
        <a:lstStyle/>
        <a:p>
          <a:endParaRPr lang="en-US"/>
        </a:p>
      </dgm:t>
    </dgm:pt>
    <dgm:pt modelId="{7DAD2F34-FA76-448E-9EE0-F0B34264F745}" type="sibTrans" cxnId="{66E8ECF8-1A95-4D76-BF74-24F15C315ADF}">
      <dgm:prSet/>
      <dgm:spPr/>
      <dgm:t>
        <a:bodyPr/>
        <a:lstStyle/>
        <a:p>
          <a:endParaRPr lang="en-US"/>
        </a:p>
      </dgm:t>
    </dgm:pt>
    <dgm:pt modelId="{C15B265C-2461-457B-810E-34E01706F757}">
      <dgm:prSet phldrT="[Text]" custT="1"/>
      <dgm:spPr/>
      <dgm:t>
        <a:bodyPr/>
        <a:lstStyle/>
        <a:p>
          <a:r>
            <a:rPr lang="en-US" sz="1800" dirty="0"/>
            <a:t>100 ECTs</a:t>
          </a:r>
        </a:p>
      </dgm:t>
    </dgm:pt>
    <dgm:pt modelId="{4F000D81-8007-4321-8C6C-C5733F4C9D22}" type="parTrans" cxnId="{E44806E8-9F8B-4F1F-A83A-A92A84F6D50B}">
      <dgm:prSet/>
      <dgm:spPr/>
      <dgm:t>
        <a:bodyPr/>
        <a:lstStyle/>
        <a:p>
          <a:endParaRPr lang="en-US"/>
        </a:p>
      </dgm:t>
    </dgm:pt>
    <dgm:pt modelId="{3F90EDBF-49F5-49AF-8D49-F68FAC0F9EF5}" type="sibTrans" cxnId="{E44806E8-9F8B-4F1F-A83A-A92A84F6D50B}">
      <dgm:prSet/>
      <dgm:spPr/>
      <dgm:t>
        <a:bodyPr/>
        <a:lstStyle/>
        <a:p>
          <a:endParaRPr lang="en-US"/>
        </a:p>
      </dgm:t>
    </dgm:pt>
    <dgm:pt modelId="{3D9FA0B4-0BBE-4A3F-8821-F5E042235EC0}">
      <dgm:prSet phldrT="[Text]" custT="1"/>
      <dgm:spPr/>
      <dgm:t>
        <a:bodyPr/>
        <a:lstStyle/>
        <a:p>
          <a:r>
            <a:rPr lang="en-US" sz="1800" dirty="0"/>
            <a:t>Stock Price Data</a:t>
          </a:r>
        </a:p>
      </dgm:t>
    </dgm:pt>
    <dgm:pt modelId="{EA08391A-448A-4D5E-967C-3F06B56ABD88}" type="parTrans" cxnId="{10BA2F54-425D-4643-AC4D-1C74FE68B318}">
      <dgm:prSet/>
      <dgm:spPr/>
      <dgm:t>
        <a:bodyPr/>
        <a:lstStyle/>
        <a:p>
          <a:endParaRPr lang="en-US"/>
        </a:p>
      </dgm:t>
    </dgm:pt>
    <dgm:pt modelId="{E9F6646F-C863-49B9-9D51-F4DC0A392582}" type="sibTrans" cxnId="{10BA2F54-425D-4643-AC4D-1C74FE68B318}">
      <dgm:prSet/>
      <dgm:spPr/>
      <dgm:t>
        <a:bodyPr/>
        <a:lstStyle/>
        <a:p>
          <a:endParaRPr lang="en-US"/>
        </a:p>
      </dgm:t>
    </dgm:pt>
    <dgm:pt modelId="{4E3422F9-EC4A-4AF0-B50A-4E39EDDCC27A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Extract</a:t>
          </a:r>
        </a:p>
      </dgm:t>
    </dgm:pt>
    <dgm:pt modelId="{EBA69F49-513D-481B-83C0-7E28BC454F33}" type="parTrans" cxnId="{8476053F-B76E-4A03-ABD5-D248C40FCB48}">
      <dgm:prSet/>
      <dgm:spPr/>
      <dgm:t>
        <a:bodyPr/>
        <a:lstStyle/>
        <a:p>
          <a:endParaRPr lang="en-US"/>
        </a:p>
      </dgm:t>
    </dgm:pt>
    <dgm:pt modelId="{F87EAD87-3178-43FE-905B-454EEEB5B0AB}" type="sibTrans" cxnId="{8476053F-B76E-4A03-ABD5-D248C40FCB48}">
      <dgm:prSet/>
      <dgm:spPr/>
      <dgm:t>
        <a:bodyPr/>
        <a:lstStyle/>
        <a:p>
          <a:endParaRPr lang="en-US"/>
        </a:p>
      </dgm:t>
    </dgm:pt>
    <dgm:pt modelId="{AD5E73E6-B8AD-470A-BC39-73450A918D1A}">
      <dgm:prSet phldrT="[Text]" custT="1"/>
      <dgm:spPr/>
      <dgm:t>
        <a:bodyPr/>
        <a:lstStyle/>
        <a:p>
          <a:r>
            <a:rPr lang="en-US" sz="1800" dirty="0" err="1"/>
            <a:t>FinBert</a:t>
          </a:r>
          <a:r>
            <a:rPr lang="en-US" sz="1800" dirty="0"/>
            <a:t> Sentiment</a:t>
          </a:r>
        </a:p>
      </dgm:t>
    </dgm:pt>
    <dgm:pt modelId="{19FAA372-1BBA-4098-B003-E7569C28071F}" type="parTrans" cxnId="{A2C214E5-293F-4587-934B-57B9FC633B03}">
      <dgm:prSet/>
      <dgm:spPr/>
      <dgm:t>
        <a:bodyPr/>
        <a:lstStyle/>
        <a:p>
          <a:endParaRPr lang="en-US"/>
        </a:p>
      </dgm:t>
    </dgm:pt>
    <dgm:pt modelId="{423830B6-0F7A-4BD7-ADAC-D4DFFBA2153B}" type="sibTrans" cxnId="{A2C214E5-293F-4587-934B-57B9FC633B03}">
      <dgm:prSet/>
      <dgm:spPr/>
      <dgm:t>
        <a:bodyPr/>
        <a:lstStyle/>
        <a:p>
          <a:endParaRPr lang="en-US"/>
        </a:p>
      </dgm:t>
    </dgm:pt>
    <dgm:pt modelId="{988EC81F-8A86-4C66-9714-5196320FB21A}">
      <dgm:prSet phldrT="[Text]" custT="1"/>
      <dgm:spPr/>
      <dgm:t>
        <a:bodyPr/>
        <a:lstStyle/>
        <a:p>
          <a:r>
            <a:rPr lang="en-US" sz="1800" dirty="0"/>
            <a:t>Quantitative Features</a:t>
          </a:r>
        </a:p>
      </dgm:t>
    </dgm:pt>
    <dgm:pt modelId="{AC5CDD3F-0492-478A-AD19-DE05DEC29D7A}" type="parTrans" cxnId="{3ECCC353-A279-4E73-8C10-F3C52387AC7D}">
      <dgm:prSet/>
      <dgm:spPr/>
      <dgm:t>
        <a:bodyPr/>
        <a:lstStyle/>
        <a:p>
          <a:endParaRPr lang="en-US"/>
        </a:p>
      </dgm:t>
    </dgm:pt>
    <dgm:pt modelId="{613652A4-933F-406D-B409-C04DF2DDE970}" type="sibTrans" cxnId="{3ECCC353-A279-4E73-8C10-F3C52387AC7D}">
      <dgm:prSet/>
      <dgm:spPr/>
      <dgm:t>
        <a:bodyPr/>
        <a:lstStyle/>
        <a:p>
          <a:endParaRPr lang="en-US"/>
        </a:p>
      </dgm:t>
    </dgm:pt>
    <dgm:pt modelId="{E7E1E34B-E7E3-4690-B01D-230AA5CE9406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Model</a:t>
          </a:r>
        </a:p>
      </dgm:t>
    </dgm:pt>
    <dgm:pt modelId="{73733460-171B-42EC-BD5B-DA8745326CB4}" type="parTrans" cxnId="{923727AE-7429-4448-891D-1FACC4C93BA7}">
      <dgm:prSet/>
      <dgm:spPr/>
      <dgm:t>
        <a:bodyPr/>
        <a:lstStyle/>
        <a:p>
          <a:endParaRPr lang="en-US"/>
        </a:p>
      </dgm:t>
    </dgm:pt>
    <dgm:pt modelId="{FEDD5A9F-05F2-4A61-93FE-BF5A282D3368}" type="sibTrans" cxnId="{923727AE-7429-4448-891D-1FACC4C93BA7}">
      <dgm:prSet/>
      <dgm:spPr/>
      <dgm:t>
        <a:bodyPr/>
        <a:lstStyle/>
        <a:p>
          <a:endParaRPr lang="en-US"/>
        </a:p>
      </dgm:t>
    </dgm:pt>
    <dgm:pt modelId="{9B10DC96-1F62-4B25-8E3A-718EFCE5B920}">
      <dgm:prSet phldrT="[Text]"/>
      <dgm:spPr/>
      <dgm:t>
        <a:bodyPr/>
        <a:lstStyle/>
        <a:p>
          <a:r>
            <a:rPr lang="en-US" dirty="0"/>
            <a:t>Ensemble Random Forest</a:t>
          </a:r>
        </a:p>
      </dgm:t>
    </dgm:pt>
    <dgm:pt modelId="{C15D0CDA-6F5B-42D4-85C4-D084171046E1}" type="parTrans" cxnId="{2B6627CB-A271-40BA-A0F4-E2DA25B301CF}">
      <dgm:prSet/>
      <dgm:spPr/>
      <dgm:t>
        <a:bodyPr/>
        <a:lstStyle/>
        <a:p>
          <a:endParaRPr lang="en-US"/>
        </a:p>
      </dgm:t>
    </dgm:pt>
    <dgm:pt modelId="{441FE368-7D06-440E-89C3-B57C29AE95DC}" type="sibTrans" cxnId="{2B6627CB-A271-40BA-A0F4-E2DA25B301CF}">
      <dgm:prSet/>
      <dgm:spPr/>
      <dgm:t>
        <a:bodyPr/>
        <a:lstStyle/>
        <a:p>
          <a:endParaRPr lang="en-US"/>
        </a:p>
      </dgm:t>
    </dgm:pt>
    <dgm:pt modelId="{EB4304F4-6495-4B36-89F9-AA905E7BE19C}">
      <dgm:prSet phldrT="[Text]"/>
      <dgm:spPr/>
      <dgm:t>
        <a:bodyPr/>
        <a:lstStyle/>
        <a:p>
          <a:r>
            <a:rPr lang="en-US" dirty="0"/>
            <a:t>Sentiment Scores + Quantitative Direction</a:t>
          </a:r>
        </a:p>
      </dgm:t>
    </dgm:pt>
    <dgm:pt modelId="{FB645BC2-4EA6-4C35-B5E4-640C336A2CD9}" type="parTrans" cxnId="{8AC6332D-8D6F-474E-8086-96BFC217F9B7}">
      <dgm:prSet/>
      <dgm:spPr/>
      <dgm:t>
        <a:bodyPr/>
        <a:lstStyle/>
        <a:p>
          <a:endParaRPr lang="en-US"/>
        </a:p>
      </dgm:t>
    </dgm:pt>
    <dgm:pt modelId="{EC919818-991A-4ADF-9258-1280E01C1E88}" type="sibTrans" cxnId="{8AC6332D-8D6F-474E-8086-96BFC217F9B7}">
      <dgm:prSet/>
      <dgm:spPr/>
      <dgm:t>
        <a:bodyPr/>
        <a:lstStyle/>
        <a:p>
          <a:endParaRPr lang="en-US"/>
        </a:p>
      </dgm:t>
    </dgm:pt>
    <dgm:pt modelId="{F66DE65A-EB26-45E3-92D0-D9DA9D46470C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Predict</a:t>
          </a:r>
        </a:p>
      </dgm:t>
    </dgm:pt>
    <dgm:pt modelId="{34276A70-4A38-40BC-9DAE-5DC142F3C099}" type="parTrans" cxnId="{BFCE32F2-8287-4BEC-99EE-25E608D0214A}">
      <dgm:prSet/>
      <dgm:spPr/>
      <dgm:t>
        <a:bodyPr/>
        <a:lstStyle/>
        <a:p>
          <a:endParaRPr lang="en-US"/>
        </a:p>
      </dgm:t>
    </dgm:pt>
    <dgm:pt modelId="{CF0B1162-DFE0-4133-85D1-942BBEC15F1A}" type="sibTrans" cxnId="{BFCE32F2-8287-4BEC-99EE-25E608D0214A}">
      <dgm:prSet/>
      <dgm:spPr/>
      <dgm:t>
        <a:bodyPr/>
        <a:lstStyle/>
        <a:p>
          <a:endParaRPr lang="en-US"/>
        </a:p>
      </dgm:t>
    </dgm:pt>
    <dgm:pt modelId="{100ECDC7-1C16-4EDB-9F47-947B605B427F}">
      <dgm:prSet phldrT="[Text]"/>
      <dgm:spPr/>
      <dgm:t>
        <a:bodyPr/>
        <a:lstStyle/>
        <a:p>
          <a:r>
            <a:rPr lang="en-US" dirty="0"/>
            <a:t>Output Probabilities generate Buy/Sell Guidance</a:t>
          </a:r>
        </a:p>
      </dgm:t>
    </dgm:pt>
    <dgm:pt modelId="{5B71412D-B7B1-4840-B18B-B905DC7DBCFC}" type="parTrans" cxnId="{CB82C5DC-1D10-43E5-A5DD-088A99AE07F4}">
      <dgm:prSet/>
      <dgm:spPr/>
      <dgm:t>
        <a:bodyPr/>
        <a:lstStyle/>
        <a:p>
          <a:endParaRPr lang="en-US"/>
        </a:p>
      </dgm:t>
    </dgm:pt>
    <dgm:pt modelId="{674296D8-8B45-4E62-A54E-1CE13DEB4B92}" type="sibTrans" cxnId="{CB82C5DC-1D10-43E5-A5DD-088A99AE07F4}">
      <dgm:prSet/>
      <dgm:spPr/>
      <dgm:t>
        <a:bodyPr/>
        <a:lstStyle/>
        <a:p>
          <a:endParaRPr lang="en-US"/>
        </a:p>
      </dgm:t>
    </dgm:pt>
    <dgm:pt modelId="{087DB645-311C-46F8-B395-79B35F87FC59}">
      <dgm:prSet phldrT="[Text]"/>
      <dgm:spPr/>
      <dgm:t>
        <a:bodyPr/>
        <a:lstStyle/>
        <a:p>
          <a:r>
            <a:rPr lang="en-US" dirty="0"/>
            <a:t>Accuracy based on D+1, D+7, &amp; D+28</a:t>
          </a:r>
        </a:p>
      </dgm:t>
    </dgm:pt>
    <dgm:pt modelId="{D5F4017B-97B8-4B1F-BA7E-1F7688B59524}" type="parTrans" cxnId="{4AC4204D-2F87-4DD7-87B9-9B50B014E5E2}">
      <dgm:prSet/>
      <dgm:spPr/>
      <dgm:t>
        <a:bodyPr/>
        <a:lstStyle/>
        <a:p>
          <a:endParaRPr lang="en-US"/>
        </a:p>
      </dgm:t>
    </dgm:pt>
    <dgm:pt modelId="{202FE721-102F-4902-83F7-378018E58200}" type="sibTrans" cxnId="{4AC4204D-2F87-4DD7-87B9-9B50B014E5E2}">
      <dgm:prSet/>
      <dgm:spPr/>
      <dgm:t>
        <a:bodyPr/>
        <a:lstStyle/>
        <a:p>
          <a:endParaRPr lang="en-US"/>
        </a:p>
      </dgm:t>
    </dgm:pt>
    <dgm:pt modelId="{15A8BC15-BA77-471A-8DBA-52945C83F17F}">
      <dgm:prSet phldrT="[Text]" custT="1"/>
      <dgm:spPr/>
      <dgm:t>
        <a:bodyPr/>
        <a:lstStyle/>
        <a:p>
          <a:endParaRPr lang="en-US" sz="1800" dirty="0"/>
        </a:p>
      </dgm:t>
    </dgm:pt>
    <dgm:pt modelId="{C50915F0-C1AF-475E-8397-33412918ED39}" type="parTrans" cxnId="{8D30D2EC-B777-4B04-A94C-87000C8F0AF6}">
      <dgm:prSet/>
      <dgm:spPr/>
      <dgm:t>
        <a:bodyPr/>
        <a:lstStyle/>
        <a:p>
          <a:endParaRPr lang="en-US"/>
        </a:p>
      </dgm:t>
    </dgm:pt>
    <dgm:pt modelId="{4C6BAA8B-048E-4F23-9D43-F9F5AA5CE65A}" type="sibTrans" cxnId="{8D30D2EC-B777-4B04-A94C-87000C8F0AF6}">
      <dgm:prSet/>
      <dgm:spPr/>
      <dgm:t>
        <a:bodyPr/>
        <a:lstStyle/>
        <a:p>
          <a:endParaRPr lang="en-US"/>
        </a:p>
      </dgm:t>
    </dgm:pt>
    <dgm:pt modelId="{830A766B-0BB0-48C1-ADB7-302FC16A8FBB}" type="pres">
      <dgm:prSet presAssocID="{5D7AA4D8-22F5-4146-958A-C82969334C28}" presName="Name0" presStyleCnt="0">
        <dgm:presLayoutVars>
          <dgm:dir/>
          <dgm:animLvl val="lvl"/>
          <dgm:resizeHandles val="exact"/>
        </dgm:presLayoutVars>
      </dgm:prSet>
      <dgm:spPr/>
    </dgm:pt>
    <dgm:pt modelId="{B2D26079-F6C9-4B70-929A-CA1C1962C558}" type="pres">
      <dgm:prSet presAssocID="{5D7AA4D8-22F5-4146-958A-C82969334C28}" presName="tSp" presStyleCnt="0"/>
      <dgm:spPr/>
    </dgm:pt>
    <dgm:pt modelId="{20B82A5D-7201-4C16-9A08-9878117FC063}" type="pres">
      <dgm:prSet presAssocID="{5D7AA4D8-22F5-4146-958A-C82969334C28}" presName="bSp" presStyleCnt="0"/>
      <dgm:spPr/>
    </dgm:pt>
    <dgm:pt modelId="{495F8E78-ADAE-4958-9E6F-90DB3ECE368A}" type="pres">
      <dgm:prSet presAssocID="{5D7AA4D8-22F5-4146-958A-C82969334C28}" presName="process" presStyleCnt="0"/>
      <dgm:spPr/>
    </dgm:pt>
    <dgm:pt modelId="{B8305825-7E37-43CD-8F61-16FBF30D17BA}" type="pres">
      <dgm:prSet presAssocID="{7E222078-4037-461D-9AB9-B390F8048C3C}" presName="composite1" presStyleCnt="0"/>
      <dgm:spPr/>
    </dgm:pt>
    <dgm:pt modelId="{1171C59D-D3AA-4788-BFD4-A3844F61021F}" type="pres">
      <dgm:prSet presAssocID="{7E222078-4037-461D-9AB9-B390F8048C3C}" presName="dummyNode1" presStyleLbl="node1" presStyleIdx="0" presStyleCnt="4"/>
      <dgm:spPr/>
    </dgm:pt>
    <dgm:pt modelId="{4EA33B1F-BE05-49DB-8B55-9A1BF48A48B6}" type="pres">
      <dgm:prSet presAssocID="{7E222078-4037-461D-9AB9-B390F8048C3C}" presName="childNode1" presStyleLbl="bgAcc1" presStyleIdx="0" presStyleCnt="4">
        <dgm:presLayoutVars>
          <dgm:bulletEnabled val="1"/>
        </dgm:presLayoutVars>
      </dgm:prSet>
      <dgm:spPr/>
    </dgm:pt>
    <dgm:pt modelId="{80A0B950-E361-4184-AD49-7D837284728C}" type="pres">
      <dgm:prSet presAssocID="{7E222078-4037-461D-9AB9-B390F8048C3C}" presName="childNode1tx" presStyleLbl="bgAcc1" presStyleIdx="0" presStyleCnt="4">
        <dgm:presLayoutVars>
          <dgm:bulletEnabled val="1"/>
        </dgm:presLayoutVars>
      </dgm:prSet>
      <dgm:spPr/>
    </dgm:pt>
    <dgm:pt modelId="{0A930195-42A6-44AA-95E7-18965A0571CB}" type="pres">
      <dgm:prSet presAssocID="{7E222078-4037-461D-9AB9-B390F8048C3C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AF7847E6-5D89-4F12-A964-EED4460F503E}" type="pres">
      <dgm:prSet presAssocID="{7E222078-4037-461D-9AB9-B390F8048C3C}" presName="connSite1" presStyleCnt="0"/>
      <dgm:spPr/>
    </dgm:pt>
    <dgm:pt modelId="{D3076B87-26A8-41D4-BDA7-98A77193653F}" type="pres">
      <dgm:prSet presAssocID="{7DAD2F34-FA76-448E-9EE0-F0B34264F745}" presName="Name9" presStyleLbl="sibTrans2D1" presStyleIdx="0" presStyleCnt="3"/>
      <dgm:spPr/>
    </dgm:pt>
    <dgm:pt modelId="{4C974487-E570-4D54-B7EB-02D8BF9AADEF}" type="pres">
      <dgm:prSet presAssocID="{4E3422F9-EC4A-4AF0-B50A-4E39EDDCC27A}" presName="composite2" presStyleCnt="0"/>
      <dgm:spPr/>
    </dgm:pt>
    <dgm:pt modelId="{00589CF5-CB3B-42C0-9477-C06350E4A19D}" type="pres">
      <dgm:prSet presAssocID="{4E3422F9-EC4A-4AF0-B50A-4E39EDDCC27A}" presName="dummyNode2" presStyleLbl="node1" presStyleIdx="0" presStyleCnt="4"/>
      <dgm:spPr/>
    </dgm:pt>
    <dgm:pt modelId="{696F4333-7E75-408D-A26D-738DCC1B3DD4}" type="pres">
      <dgm:prSet presAssocID="{4E3422F9-EC4A-4AF0-B50A-4E39EDDCC27A}" presName="childNode2" presStyleLbl="bgAcc1" presStyleIdx="1" presStyleCnt="4">
        <dgm:presLayoutVars>
          <dgm:bulletEnabled val="1"/>
        </dgm:presLayoutVars>
      </dgm:prSet>
      <dgm:spPr/>
    </dgm:pt>
    <dgm:pt modelId="{6A92814C-DFCC-4836-87F0-F13877008490}" type="pres">
      <dgm:prSet presAssocID="{4E3422F9-EC4A-4AF0-B50A-4E39EDDCC27A}" presName="childNode2tx" presStyleLbl="bgAcc1" presStyleIdx="1" presStyleCnt="4">
        <dgm:presLayoutVars>
          <dgm:bulletEnabled val="1"/>
        </dgm:presLayoutVars>
      </dgm:prSet>
      <dgm:spPr/>
    </dgm:pt>
    <dgm:pt modelId="{8D9E0B82-5960-4B8D-87F9-30C975D836FC}" type="pres">
      <dgm:prSet presAssocID="{4E3422F9-EC4A-4AF0-B50A-4E39EDDCC27A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4161AAE9-1706-4982-A96D-35675BBEC456}" type="pres">
      <dgm:prSet presAssocID="{4E3422F9-EC4A-4AF0-B50A-4E39EDDCC27A}" presName="connSite2" presStyleCnt="0"/>
      <dgm:spPr/>
    </dgm:pt>
    <dgm:pt modelId="{530310F3-6426-4A1F-B069-7FF0CB48C678}" type="pres">
      <dgm:prSet presAssocID="{F87EAD87-3178-43FE-905B-454EEEB5B0AB}" presName="Name18" presStyleLbl="sibTrans2D1" presStyleIdx="1" presStyleCnt="3"/>
      <dgm:spPr/>
    </dgm:pt>
    <dgm:pt modelId="{88331395-A6D2-4173-B20B-D5DF30D6D89F}" type="pres">
      <dgm:prSet presAssocID="{E7E1E34B-E7E3-4690-B01D-230AA5CE9406}" presName="composite1" presStyleCnt="0"/>
      <dgm:spPr/>
    </dgm:pt>
    <dgm:pt modelId="{B9526A94-572D-4CD6-AD42-FC5CB122A6AE}" type="pres">
      <dgm:prSet presAssocID="{E7E1E34B-E7E3-4690-B01D-230AA5CE9406}" presName="dummyNode1" presStyleLbl="node1" presStyleIdx="1" presStyleCnt="4"/>
      <dgm:spPr/>
    </dgm:pt>
    <dgm:pt modelId="{22A388CE-D3DB-479B-A9A1-ED764282A91F}" type="pres">
      <dgm:prSet presAssocID="{E7E1E34B-E7E3-4690-B01D-230AA5CE9406}" presName="childNode1" presStyleLbl="bgAcc1" presStyleIdx="2" presStyleCnt="4">
        <dgm:presLayoutVars>
          <dgm:bulletEnabled val="1"/>
        </dgm:presLayoutVars>
      </dgm:prSet>
      <dgm:spPr/>
    </dgm:pt>
    <dgm:pt modelId="{218C9A89-734C-4C59-84DB-6C0DF2BF962E}" type="pres">
      <dgm:prSet presAssocID="{E7E1E34B-E7E3-4690-B01D-230AA5CE9406}" presName="childNode1tx" presStyleLbl="bgAcc1" presStyleIdx="2" presStyleCnt="4">
        <dgm:presLayoutVars>
          <dgm:bulletEnabled val="1"/>
        </dgm:presLayoutVars>
      </dgm:prSet>
      <dgm:spPr/>
    </dgm:pt>
    <dgm:pt modelId="{8AF19232-A8EA-4D44-A07B-8CF4AD2454C8}" type="pres">
      <dgm:prSet presAssocID="{E7E1E34B-E7E3-4690-B01D-230AA5CE9406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9D772039-43D5-44CA-B11F-EF14AF1C5F15}" type="pres">
      <dgm:prSet presAssocID="{E7E1E34B-E7E3-4690-B01D-230AA5CE9406}" presName="connSite1" presStyleCnt="0"/>
      <dgm:spPr/>
    </dgm:pt>
    <dgm:pt modelId="{6F5F35FA-0861-4D77-8064-CB85EBFFA2E0}" type="pres">
      <dgm:prSet presAssocID="{FEDD5A9F-05F2-4A61-93FE-BF5A282D3368}" presName="Name9" presStyleLbl="sibTrans2D1" presStyleIdx="2" presStyleCnt="3"/>
      <dgm:spPr/>
    </dgm:pt>
    <dgm:pt modelId="{BF99366D-003F-4EF0-AB17-66FE257408EC}" type="pres">
      <dgm:prSet presAssocID="{F66DE65A-EB26-45E3-92D0-D9DA9D46470C}" presName="composite2" presStyleCnt="0"/>
      <dgm:spPr/>
    </dgm:pt>
    <dgm:pt modelId="{EC540F9C-28C6-4CA2-A111-D2278CA4F941}" type="pres">
      <dgm:prSet presAssocID="{F66DE65A-EB26-45E3-92D0-D9DA9D46470C}" presName="dummyNode2" presStyleLbl="node1" presStyleIdx="2" presStyleCnt="4"/>
      <dgm:spPr/>
    </dgm:pt>
    <dgm:pt modelId="{1C82886B-1C36-45C6-B4E9-402BF25B789E}" type="pres">
      <dgm:prSet presAssocID="{F66DE65A-EB26-45E3-92D0-D9DA9D46470C}" presName="childNode2" presStyleLbl="bgAcc1" presStyleIdx="3" presStyleCnt="4">
        <dgm:presLayoutVars>
          <dgm:bulletEnabled val="1"/>
        </dgm:presLayoutVars>
      </dgm:prSet>
      <dgm:spPr/>
    </dgm:pt>
    <dgm:pt modelId="{7FDBBA23-8A12-4770-B05E-4D12290887CA}" type="pres">
      <dgm:prSet presAssocID="{F66DE65A-EB26-45E3-92D0-D9DA9D46470C}" presName="childNode2tx" presStyleLbl="bgAcc1" presStyleIdx="3" presStyleCnt="4">
        <dgm:presLayoutVars>
          <dgm:bulletEnabled val="1"/>
        </dgm:presLayoutVars>
      </dgm:prSet>
      <dgm:spPr/>
    </dgm:pt>
    <dgm:pt modelId="{B755AD33-A5EC-45FE-8D1D-DBEE17CF0AE0}" type="pres">
      <dgm:prSet presAssocID="{F66DE65A-EB26-45E3-92D0-D9DA9D46470C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D28AA987-85CB-4F3C-8607-8817ABE36BAA}" type="pres">
      <dgm:prSet presAssocID="{F66DE65A-EB26-45E3-92D0-D9DA9D46470C}" presName="connSite2" presStyleCnt="0"/>
      <dgm:spPr/>
    </dgm:pt>
  </dgm:ptLst>
  <dgm:cxnLst>
    <dgm:cxn modelId="{B3819206-50B9-49BD-9834-D4EA69FCBB2F}" type="presOf" srcId="{9B10DC96-1F62-4B25-8E3A-718EFCE5B920}" destId="{22A388CE-D3DB-479B-A9A1-ED764282A91F}" srcOrd="0" destOrd="0" presId="urn:microsoft.com/office/officeart/2005/8/layout/hProcess4"/>
    <dgm:cxn modelId="{A867E10B-ACCD-4B1F-8842-99098D6A7FDE}" type="presOf" srcId="{C15B265C-2461-457B-810E-34E01706F757}" destId="{4EA33B1F-BE05-49DB-8B55-9A1BF48A48B6}" srcOrd="0" destOrd="1" presId="urn:microsoft.com/office/officeart/2005/8/layout/hProcess4"/>
    <dgm:cxn modelId="{A218790C-E1B0-4D76-899A-1B0D9B987806}" type="presOf" srcId="{4E3422F9-EC4A-4AF0-B50A-4E39EDDCC27A}" destId="{8D9E0B82-5960-4B8D-87F9-30C975D836FC}" srcOrd="0" destOrd="0" presId="urn:microsoft.com/office/officeart/2005/8/layout/hProcess4"/>
    <dgm:cxn modelId="{8C386F10-0402-437A-A379-FADD15093EB2}" type="presOf" srcId="{100ECDC7-1C16-4EDB-9F47-947B605B427F}" destId="{1C82886B-1C36-45C6-B4E9-402BF25B789E}" srcOrd="0" destOrd="0" presId="urn:microsoft.com/office/officeart/2005/8/layout/hProcess4"/>
    <dgm:cxn modelId="{0591C711-A938-415F-BF8F-F0712C369985}" type="presOf" srcId="{100ECDC7-1C16-4EDB-9F47-947B605B427F}" destId="{7FDBBA23-8A12-4770-B05E-4D12290887CA}" srcOrd="1" destOrd="0" presId="urn:microsoft.com/office/officeart/2005/8/layout/hProcess4"/>
    <dgm:cxn modelId="{60727F18-A7C6-4117-900C-867157112A2F}" type="presOf" srcId="{7E222078-4037-461D-9AB9-B390F8048C3C}" destId="{0A930195-42A6-44AA-95E7-18965A0571CB}" srcOrd="0" destOrd="0" presId="urn:microsoft.com/office/officeart/2005/8/layout/hProcess4"/>
    <dgm:cxn modelId="{B13F6F1A-62D0-4479-B04D-3C4094EC1A25}" type="presOf" srcId="{EB4304F4-6495-4B36-89F9-AA905E7BE19C}" destId="{218C9A89-734C-4C59-84DB-6C0DF2BF962E}" srcOrd="1" destOrd="1" presId="urn:microsoft.com/office/officeart/2005/8/layout/hProcess4"/>
    <dgm:cxn modelId="{CFD32623-82F2-4191-AAD6-DC64784CBCF2}" type="presOf" srcId="{988EC81F-8A86-4C66-9714-5196320FB21A}" destId="{696F4333-7E75-408D-A26D-738DCC1B3DD4}" srcOrd="0" destOrd="1" presId="urn:microsoft.com/office/officeart/2005/8/layout/hProcess4"/>
    <dgm:cxn modelId="{486D7424-CE5A-46E1-836F-C4A56662729C}" type="presOf" srcId="{7DAD2F34-FA76-448E-9EE0-F0B34264F745}" destId="{D3076B87-26A8-41D4-BDA7-98A77193653F}" srcOrd="0" destOrd="0" presId="urn:microsoft.com/office/officeart/2005/8/layout/hProcess4"/>
    <dgm:cxn modelId="{27B64C2A-819D-46D2-ABC2-B9E77235A2EC}" type="presOf" srcId="{15A8BC15-BA77-471A-8DBA-52945C83F17F}" destId="{80A0B950-E361-4184-AD49-7D837284728C}" srcOrd="1" destOrd="0" presId="urn:microsoft.com/office/officeart/2005/8/layout/hProcess4"/>
    <dgm:cxn modelId="{8AC6332D-8D6F-474E-8086-96BFC217F9B7}" srcId="{E7E1E34B-E7E3-4690-B01D-230AA5CE9406}" destId="{EB4304F4-6495-4B36-89F9-AA905E7BE19C}" srcOrd="1" destOrd="0" parTransId="{FB645BC2-4EA6-4C35-B5E4-640C336A2CD9}" sibTransId="{EC919818-991A-4ADF-9258-1280E01C1E88}"/>
    <dgm:cxn modelId="{99529132-E15C-4C67-8701-9B25BF9A59C9}" type="presOf" srcId="{3D9FA0B4-0BBE-4A3F-8821-F5E042235EC0}" destId="{80A0B950-E361-4184-AD49-7D837284728C}" srcOrd="1" destOrd="2" presId="urn:microsoft.com/office/officeart/2005/8/layout/hProcess4"/>
    <dgm:cxn modelId="{5D598635-8EAF-495F-BF8A-885BD911DEF1}" type="presOf" srcId="{C15B265C-2461-457B-810E-34E01706F757}" destId="{80A0B950-E361-4184-AD49-7D837284728C}" srcOrd="1" destOrd="1" presId="urn:microsoft.com/office/officeart/2005/8/layout/hProcess4"/>
    <dgm:cxn modelId="{8476053F-B76E-4A03-ABD5-D248C40FCB48}" srcId="{5D7AA4D8-22F5-4146-958A-C82969334C28}" destId="{4E3422F9-EC4A-4AF0-B50A-4E39EDDCC27A}" srcOrd="1" destOrd="0" parTransId="{EBA69F49-513D-481B-83C0-7E28BC454F33}" sibTransId="{F87EAD87-3178-43FE-905B-454EEEB5B0AB}"/>
    <dgm:cxn modelId="{98FE504C-C89F-4CF6-845A-F8EEC187EDCB}" type="presOf" srcId="{3D9FA0B4-0BBE-4A3F-8821-F5E042235EC0}" destId="{4EA33B1F-BE05-49DB-8B55-9A1BF48A48B6}" srcOrd="0" destOrd="2" presId="urn:microsoft.com/office/officeart/2005/8/layout/hProcess4"/>
    <dgm:cxn modelId="{4AC4204D-2F87-4DD7-87B9-9B50B014E5E2}" srcId="{F66DE65A-EB26-45E3-92D0-D9DA9D46470C}" destId="{087DB645-311C-46F8-B395-79B35F87FC59}" srcOrd="1" destOrd="0" parTransId="{D5F4017B-97B8-4B1F-BA7E-1F7688B59524}" sibTransId="{202FE721-102F-4902-83F7-378018E58200}"/>
    <dgm:cxn modelId="{3ECCC353-A279-4E73-8C10-F3C52387AC7D}" srcId="{4E3422F9-EC4A-4AF0-B50A-4E39EDDCC27A}" destId="{988EC81F-8A86-4C66-9714-5196320FB21A}" srcOrd="1" destOrd="0" parTransId="{AC5CDD3F-0492-478A-AD19-DE05DEC29D7A}" sibTransId="{613652A4-933F-406D-B409-C04DF2DDE970}"/>
    <dgm:cxn modelId="{10BA2F54-425D-4643-AC4D-1C74FE68B318}" srcId="{7E222078-4037-461D-9AB9-B390F8048C3C}" destId="{3D9FA0B4-0BBE-4A3F-8821-F5E042235EC0}" srcOrd="2" destOrd="0" parTransId="{EA08391A-448A-4D5E-967C-3F06B56ABD88}" sibTransId="{E9F6646F-C863-49B9-9D51-F4DC0A392582}"/>
    <dgm:cxn modelId="{1818FA75-319E-48CC-8E2A-665D466835ED}" type="presOf" srcId="{FEDD5A9F-05F2-4A61-93FE-BF5A282D3368}" destId="{6F5F35FA-0861-4D77-8064-CB85EBFFA2E0}" srcOrd="0" destOrd="0" presId="urn:microsoft.com/office/officeart/2005/8/layout/hProcess4"/>
    <dgm:cxn modelId="{38138E76-4DA3-469B-B07C-0B5D8281DC52}" type="presOf" srcId="{F66DE65A-EB26-45E3-92D0-D9DA9D46470C}" destId="{B755AD33-A5EC-45FE-8D1D-DBEE17CF0AE0}" srcOrd="0" destOrd="0" presId="urn:microsoft.com/office/officeart/2005/8/layout/hProcess4"/>
    <dgm:cxn modelId="{85F2E976-F94B-4D14-B9D2-56698AE07240}" type="presOf" srcId="{EB4304F4-6495-4B36-89F9-AA905E7BE19C}" destId="{22A388CE-D3DB-479B-A9A1-ED764282A91F}" srcOrd="0" destOrd="1" presId="urn:microsoft.com/office/officeart/2005/8/layout/hProcess4"/>
    <dgm:cxn modelId="{C7780184-991A-4958-AEF4-807F43CA628F}" type="presOf" srcId="{087DB645-311C-46F8-B395-79B35F87FC59}" destId="{7FDBBA23-8A12-4770-B05E-4D12290887CA}" srcOrd="1" destOrd="1" presId="urn:microsoft.com/office/officeart/2005/8/layout/hProcess4"/>
    <dgm:cxn modelId="{F44CBD87-F994-4B01-9F4E-C8C169EC3347}" type="presOf" srcId="{988EC81F-8A86-4C66-9714-5196320FB21A}" destId="{6A92814C-DFCC-4836-87F0-F13877008490}" srcOrd="1" destOrd="1" presId="urn:microsoft.com/office/officeart/2005/8/layout/hProcess4"/>
    <dgm:cxn modelId="{9F304189-494C-4CD0-8E6A-DBFE81400DAF}" type="presOf" srcId="{9B10DC96-1F62-4B25-8E3A-718EFCE5B920}" destId="{218C9A89-734C-4C59-84DB-6C0DF2BF962E}" srcOrd="1" destOrd="0" presId="urn:microsoft.com/office/officeart/2005/8/layout/hProcess4"/>
    <dgm:cxn modelId="{2327408A-2B24-491E-B897-283C94ED95AA}" type="presOf" srcId="{5D7AA4D8-22F5-4146-958A-C82969334C28}" destId="{830A766B-0BB0-48C1-ADB7-302FC16A8FBB}" srcOrd="0" destOrd="0" presId="urn:microsoft.com/office/officeart/2005/8/layout/hProcess4"/>
    <dgm:cxn modelId="{CF74C9A7-94E2-477D-BE09-B751F42507A6}" type="presOf" srcId="{087DB645-311C-46F8-B395-79B35F87FC59}" destId="{1C82886B-1C36-45C6-B4E9-402BF25B789E}" srcOrd="0" destOrd="1" presId="urn:microsoft.com/office/officeart/2005/8/layout/hProcess4"/>
    <dgm:cxn modelId="{44989BA9-B8E1-4553-A0F9-1AEED2264534}" type="presOf" srcId="{15A8BC15-BA77-471A-8DBA-52945C83F17F}" destId="{4EA33B1F-BE05-49DB-8B55-9A1BF48A48B6}" srcOrd="0" destOrd="0" presId="urn:microsoft.com/office/officeart/2005/8/layout/hProcess4"/>
    <dgm:cxn modelId="{923727AE-7429-4448-891D-1FACC4C93BA7}" srcId="{5D7AA4D8-22F5-4146-958A-C82969334C28}" destId="{E7E1E34B-E7E3-4690-B01D-230AA5CE9406}" srcOrd="2" destOrd="0" parTransId="{73733460-171B-42EC-BD5B-DA8745326CB4}" sibTransId="{FEDD5A9F-05F2-4A61-93FE-BF5A282D3368}"/>
    <dgm:cxn modelId="{C480D6B1-0DEC-4FBB-8CAA-E08F506DACA4}" type="presOf" srcId="{AD5E73E6-B8AD-470A-BC39-73450A918D1A}" destId="{696F4333-7E75-408D-A26D-738DCC1B3DD4}" srcOrd="0" destOrd="0" presId="urn:microsoft.com/office/officeart/2005/8/layout/hProcess4"/>
    <dgm:cxn modelId="{E4D2D6C7-10BD-438C-AF15-DD3CD22F08B3}" type="presOf" srcId="{AD5E73E6-B8AD-470A-BC39-73450A918D1A}" destId="{6A92814C-DFCC-4836-87F0-F13877008490}" srcOrd="1" destOrd="0" presId="urn:microsoft.com/office/officeart/2005/8/layout/hProcess4"/>
    <dgm:cxn modelId="{2B6627CB-A271-40BA-A0F4-E2DA25B301CF}" srcId="{E7E1E34B-E7E3-4690-B01D-230AA5CE9406}" destId="{9B10DC96-1F62-4B25-8E3A-718EFCE5B920}" srcOrd="0" destOrd="0" parTransId="{C15D0CDA-6F5B-42D4-85C4-D084171046E1}" sibTransId="{441FE368-7D06-440E-89C3-B57C29AE95DC}"/>
    <dgm:cxn modelId="{D4E74CDC-784B-4287-831D-4987D05ED2DB}" type="presOf" srcId="{F87EAD87-3178-43FE-905B-454EEEB5B0AB}" destId="{530310F3-6426-4A1F-B069-7FF0CB48C678}" srcOrd="0" destOrd="0" presId="urn:microsoft.com/office/officeart/2005/8/layout/hProcess4"/>
    <dgm:cxn modelId="{CB82C5DC-1D10-43E5-A5DD-088A99AE07F4}" srcId="{F66DE65A-EB26-45E3-92D0-D9DA9D46470C}" destId="{100ECDC7-1C16-4EDB-9F47-947B605B427F}" srcOrd="0" destOrd="0" parTransId="{5B71412D-B7B1-4840-B18B-B905DC7DBCFC}" sibTransId="{674296D8-8B45-4E62-A54E-1CE13DEB4B92}"/>
    <dgm:cxn modelId="{208C64E2-E588-47D3-9A7F-14890EA17A6C}" type="presOf" srcId="{E7E1E34B-E7E3-4690-B01D-230AA5CE9406}" destId="{8AF19232-A8EA-4D44-A07B-8CF4AD2454C8}" srcOrd="0" destOrd="0" presId="urn:microsoft.com/office/officeart/2005/8/layout/hProcess4"/>
    <dgm:cxn modelId="{A2C214E5-293F-4587-934B-57B9FC633B03}" srcId="{4E3422F9-EC4A-4AF0-B50A-4E39EDDCC27A}" destId="{AD5E73E6-B8AD-470A-BC39-73450A918D1A}" srcOrd="0" destOrd="0" parTransId="{19FAA372-1BBA-4098-B003-E7569C28071F}" sibTransId="{423830B6-0F7A-4BD7-ADAC-D4DFFBA2153B}"/>
    <dgm:cxn modelId="{E44806E8-9F8B-4F1F-A83A-A92A84F6D50B}" srcId="{7E222078-4037-461D-9AB9-B390F8048C3C}" destId="{C15B265C-2461-457B-810E-34E01706F757}" srcOrd="1" destOrd="0" parTransId="{4F000D81-8007-4321-8C6C-C5733F4C9D22}" sibTransId="{3F90EDBF-49F5-49AF-8D49-F68FAC0F9EF5}"/>
    <dgm:cxn modelId="{8D30D2EC-B777-4B04-A94C-87000C8F0AF6}" srcId="{7E222078-4037-461D-9AB9-B390F8048C3C}" destId="{15A8BC15-BA77-471A-8DBA-52945C83F17F}" srcOrd="0" destOrd="0" parTransId="{C50915F0-C1AF-475E-8397-33412918ED39}" sibTransId="{4C6BAA8B-048E-4F23-9D43-F9F5AA5CE65A}"/>
    <dgm:cxn modelId="{BFCE32F2-8287-4BEC-99EE-25E608D0214A}" srcId="{5D7AA4D8-22F5-4146-958A-C82969334C28}" destId="{F66DE65A-EB26-45E3-92D0-D9DA9D46470C}" srcOrd="3" destOrd="0" parTransId="{34276A70-4A38-40BC-9DAE-5DC142F3C099}" sibTransId="{CF0B1162-DFE0-4133-85D1-942BBEC15F1A}"/>
    <dgm:cxn modelId="{66E8ECF8-1A95-4D76-BF74-24F15C315ADF}" srcId="{5D7AA4D8-22F5-4146-958A-C82969334C28}" destId="{7E222078-4037-461D-9AB9-B390F8048C3C}" srcOrd="0" destOrd="0" parTransId="{19D38686-04D1-4D49-8D55-FCC187EF4F01}" sibTransId="{7DAD2F34-FA76-448E-9EE0-F0B34264F745}"/>
    <dgm:cxn modelId="{AE67BA42-7ECC-43D9-B16E-A9437807186E}" type="presParOf" srcId="{830A766B-0BB0-48C1-ADB7-302FC16A8FBB}" destId="{B2D26079-F6C9-4B70-929A-CA1C1962C558}" srcOrd="0" destOrd="0" presId="urn:microsoft.com/office/officeart/2005/8/layout/hProcess4"/>
    <dgm:cxn modelId="{5BD1A439-9027-48B4-B4C9-AA3FDE881ABF}" type="presParOf" srcId="{830A766B-0BB0-48C1-ADB7-302FC16A8FBB}" destId="{20B82A5D-7201-4C16-9A08-9878117FC063}" srcOrd="1" destOrd="0" presId="urn:microsoft.com/office/officeart/2005/8/layout/hProcess4"/>
    <dgm:cxn modelId="{25961A1F-3739-42F7-BE2D-203F0C3A17C8}" type="presParOf" srcId="{830A766B-0BB0-48C1-ADB7-302FC16A8FBB}" destId="{495F8E78-ADAE-4958-9E6F-90DB3ECE368A}" srcOrd="2" destOrd="0" presId="urn:microsoft.com/office/officeart/2005/8/layout/hProcess4"/>
    <dgm:cxn modelId="{EB300CF0-0F24-487F-AF8A-014F52AA288A}" type="presParOf" srcId="{495F8E78-ADAE-4958-9E6F-90DB3ECE368A}" destId="{B8305825-7E37-43CD-8F61-16FBF30D17BA}" srcOrd="0" destOrd="0" presId="urn:microsoft.com/office/officeart/2005/8/layout/hProcess4"/>
    <dgm:cxn modelId="{A21FC6E2-8334-4A3F-8C8E-E097AACB1813}" type="presParOf" srcId="{B8305825-7E37-43CD-8F61-16FBF30D17BA}" destId="{1171C59D-D3AA-4788-BFD4-A3844F61021F}" srcOrd="0" destOrd="0" presId="urn:microsoft.com/office/officeart/2005/8/layout/hProcess4"/>
    <dgm:cxn modelId="{EEC6E2E9-4EA7-49F4-85F7-C4A9141F2D9F}" type="presParOf" srcId="{B8305825-7E37-43CD-8F61-16FBF30D17BA}" destId="{4EA33B1F-BE05-49DB-8B55-9A1BF48A48B6}" srcOrd="1" destOrd="0" presId="urn:microsoft.com/office/officeart/2005/8/layout/hProcess4"/>
    <dgm:cxn modelId="{F097FA5B-6F66-4C6D-BDC0-F48C29216D38}" type="presParOf" srcId="{B8305825-7E37-43CD-8F61-16FBF30D17BA}" destId="{80A0B950-E361-4184-AD49-7D837284728C}" srcOrd="2" destOrd="0" presId="urn:microsoft.com/office/officeart/2005/8/layout/hProcess4"/>
    <dgm:cxn modelId="{810EF886-9600-45B2-AE47-E63611FD1518}" type="presParOf" srcId="{B8305825-7E37-43CD-8F61-16FBF30D17BA}" destId="{0A930195-42A6-44AA-95E7-18965A0571CB}" srcOrd="3" destOrd="0" presId="urn:microsoft.com/office/officeart/2005/8/layout/hProcess4"/>
    <dgm:cxn modelId="{05089459-4D41-49DD-AA20-DA132F85317F}" type="presParOf" srcId="{B8305825-7E37-43CD-8F61-16FBF30D17BA}" destId="{AF7847E6-5D89-4F12-A964-EED4460F503E}" srcOrd="4" destOrd="0" presId="urn:microsoft.com/office/officeart/2005/8/layout/hProcess4"/>
    <dgm:cxn modelId="{4E16C2E2-F1D9-463F-A60C-35B10706C4E5}" type="presParOf" srcId="{495F8E78-ADAE-4958-9E6F-90DB3ECE368A}" destId="{D3076B87-26A8-41D4-BDA7-98A77193653F}" srcOrd="1" destOrd="0" presId="urn:microsoft.com/office/officeart/2005/8/layout/hProcess4"/>
    <dgm:cxn modelId="{095FB6E3-85E1-42AF-886F-725D510C5EFA}" type="presParOf" srcId="{495F8E78-ADAE-4958-9E6F-90DB3ECE368A}" destId="{4C974487-E570-4D54-B7EB-02D8BF9AADEF}" srcOrd="2" destOrd="0" presId="urn:microsoft.com/office/officeart/2005/8/layout/hProcess4"/>
    <dgm:cxn modelId="{49B6E6A8-D59E-4E9D-B772-2B54CFE6005B}" type="presParOf" srcId="{4C974487-E570-4D54-B7EB-02D8BF9AADEF}" destId="{00589CF5-CB3B-42C0-9477-C06350E4A19D}" srcOrd="0" destOrd="0" presId="urn:microsoft.com/office/officeart/2005/8/layout/hProcess4"/>
    <dgm:cxn modelId="{FD61E07F-239F-4EFE-A069-A7FF9FBE5B1E}" type="presParOf" srcId="{4C974487-E570-4D54-B7EB-02D8BF9AADEF}" destId="{696F4333-7E75-408D-A26D-738DCC1B3DD4}" srcOrd="1" destOrd="0" presId="urn:microsoft.com/office/officeart/2005/8/layout/hProcess4"/>
    <dgm:cxn modelId="{ADF1CD15-AFA3-4024-99E6-4A7EE38C60C2}" type="presParOf" srcId="{4C974487-E570-4D54-B7EB-02D8BF9AADEF}" destId="{6A92814C-DFCC-4836-87F0-F13877008490}" srcOrd="2" destOrd="0" presId="urn:microsoft.com/office/officeart/2005/8/layout/hProcess4"/>
    <dgm:cxn modelId="{1E5E668C-3492-4C63-973E-E367B1078F13}" type="presParOf" srcId="{4C974487-E570-4D54-B7EB-02D8BF9AADEF}" destId="{8D9E0B82-5960-4B8D-87F9-30C975D836FC}" srcOrd="3" destOrd="0" presId="urn:microsoft.com/office/officeart/2005/8/layout/hProcess4"/>
    <dgm:cxn modelId="{9468A467-3672-40D0-B9A6-85D20E97B26F}" type="presParOf" srcId="{4C974487-E570-4D54-B7EB-02D8BF9AADEF}" destId="{4161AAE9-1706-4982-A96D-35675BBEC456}" srcOrd="4" destOrd="0" presId="urn:microsoft.com/office/officeart/2005/8/layout/hProcess4"/>
    <dgm:cxn modelId="{0134C664-9C2D-4D00-B71F-910440094A46}" type="presParOf" srcId="{495F8E78-ADAE-4958-9E6F-90DB3ECE368A}" destId="{530310F3-6426-4A1F-B069-7FF0CB48C678}" srcOrd="3" destOrd="0" presId="urn:microsoft.com/office/officeart/2005/8/layout/hProcess4"/>
    <dgm:cxn modelId="{DD57A308-C89C-4F17-9FB2-3E5FD60ADD63}" type="presParOf" srcId="{495F8E78-ADAE-4958-9E6F-90DB3ECE368A}" destId="{88331395-A6D2-4173-B20B-D5DF30D6D89F}" srcOrd="4" destOrd="0" presId="urn:microsoft.com/office/officeart/2005/8/layout/hProcess4"/>
    <dgm:cxn modelId="{5E873710-97E6-4243-A336-D1B137BB2FC1}" type="presParOf" srcId="{88331395-A6D2-4173-B20B-D5DF30D6D89F}" destId="{B9526A94-572D-4CD6-AD42-FC5CB122A6AE}" srcOrd="0" destOrd="0" presId="urn:microsoft.com/office/officeart/2005/8/layout/hProcess4"/>
    <dgm:cxn modelId="{BB2C6DFA-0673-4A8D-8DA8-59F8216E0EF8}" type="presParOf" srcId="{88331395-A6D2-4173-B20B-D5DF30D6D89F}" destId="{22A388CE-D3DB-479B-A9A1-ED764282A91F}" srcOrd="1" destOrd="0" presId="urn:microsoft.com/office/officeart/2005/8/layout/hProcess4"/>
    <dgm:cxn modelId="{DC1D2D57-7436-456E-A452-9330548221C6}" type="presParOf" srcId="{88331395-A6D2-4173-B20B-D5DF30D6D89F}" destId="{218C9A89-734C-4C59-84DB-6C0DF2BF962E}" srcOrd="2" destOrd="0" presId="urn:microsoft.com/office/officeart/2005/8/layout/hProcess4"/>
    <dgm:cxn modelId="{9E1230D5-197D-4BBD-9D2E-32A7D3111156}" type="presParOf" srcId="{88331395-A6D2-4173-B20B-D5DF30D6D89F}" destId="{8AF19232-A8EA-4D44-A07B-8CF4AD2454C8}" srcOrd="3" destOrd="0" presId="urn:microsoft.com/office/officeart/2005/8/layout/hProcess4"/>
    <dgm:cxn modelId="{FA138B37-2051-49FF-A126-3227B335A221}" type="presParOf" srcId="{88331395-A6D2-4173-B20B-D5DF30D6D89F}" destId="{9D772039-43D5-44CA-B11F-EF14AF1C5F15}" srcOrd="4" destOrd="0" presId="urn:microsoft.com/office/officeart/2005/8/layout/hProcess4"/>
    <dgm:cxn modelId="{36CF45DE-E86D-41A5-A100-CA7F35C618E3}" type="presParOf" srcId="{495F8E78-ADAE-4958-9E6F-90DB3ECE368A}" destId="{6F5F35FA-0861-4D77-8064-CB85EBFFA2E0}" srcOrd="5" destOrd="0" presId="urn:microsoft.com/office/officeart/2005/8/layout/hProcess4"/>
    <dgm:cxn modelId="{3CA3B605-F995-4F9C-9B5C-A8605614BE66}" type="presParOf" srcId="{495F8E78-ADAE-4958-9E6F-90DB3ECE368A}" destId="{BF99366D-003F-4EF0-AB17-66FE257408EC}" srcOrd="6" destOrd="0" presId="urn:microsoft.com/office/officeart/2005/8/layout/hProcess4"/>
    <dgm:cxn modelId="{5C2C99F0-015E-4E14-9CAC-FC3E8F11647F}" type="presParOf" srcId="{BF99366D-003F-4EF0-AB17-66FE257408EC}" destId="{EC540F9C-28C6-4CA2-A111-D2278CA4F941}" srcOrd="0" destOrd="0" presId="urn:microsoft.com/office/officeart/2005/8/layout/hProcess4"/>
    <dgm:cxn modelId="{18F302B9-B1EA-43BC-B823-6DC0519A61FC}" type="presParOf" srcId="{BF99366D-003F-4EF0-AB17-66FE257408EC}" destId="{1C82886B-1C36-45C6-B4E9-402BF25B789E}" srcOrd="1" destOrd="0" presId="urn:microsoft.com/office/officeart/2005/8/layout/hProcess4"/>
    <dgm:cxn modelId="{FBB72386-8BD6-4804-A7DA-C243F04E3FCA}" type="presParOf" srcId="{BF99366D-003F-4EF0-AB17-66FE257408EC}" destId="{7FDBBA23-8A12-4770-B05E-4D12290887CA}" srcOrd="2" destOrd="0" presId="urn:microsoft.com/office/officeart/2005/8/layout/hProcess4"/>
    <dgm:cxn modelId="{1971014B-0203-4BFB-8BD3-880B3BCFF725}" type="presParOf" srcId="{BF99366D-003F-4EF0-AB17-66FE257408EC}" destId="{B755AD33-A5EC-45FE-8D1D-DBEE17CF0AE0}" srcOrd="3" destOrd="0" presId="urn:microsoft.com/office/officeart/2005/8/layout/hProcess4"/>
    <dgm:cxn modelId="{64BB1230-08DC-4FCC-892B-B5E84648EE65}" type="presParOf" srcId="{BF99366D-003F-4EF0-AB17-66FE257408EC}" destId="{D28AA987-85CB-4F3C-8607-8817ABE36BAA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33B1F-BE05-49DB-8B55-9A1BF48A48B6}">
      <dsp:nvSpPr>
        <dsp:cNvPr id="0" name=""/>
        <dsp:cNvSpPr/>
      </dsp:nvSpPr>
      <dsp:spPr>
        <a:xfrm>
          <a:off x="1977" y="1177496"/>
          <a:ext cx="2101486" cy="1733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100 ECTs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Stock Price Data</a:t>
          </a:r>
        </a:p>
      </dsp:txBody>
      <dsp:txXfrm>
        <a:off x="41865" y="1217384"/>
        <a:ext cx="2021710" cy="1282092"/>
      </dsp:txXfrm>
    </dsp:sp>
    <dsp:sp modelId="{D3076B87-26A8-41D4-BDA7-98A77193653F}">
      <dsp:nvSpPr>
        <dsp:cNvPr id="0" name=""/>
        <dsp:cNvSpPr/>
      </dsp:nvSpPr>
      <dsp:spPr>
        <a:xfrm>
          <a:off x="1147744" y="1463840"/>
          <a:ext cx="2504382" cy="2504382"/>
        </a:xfrm>
        <a:prstGeom prst="leftCircularArrow">
          <a:avLst>
            <a:gd name="adj1" fmla="val 3895"/>
            <a:gd name="adj2" fmla="val 487902"/>
            <a:gd name="adj3" fmla="val 2263413"/>
            <a:gd name="adj4" fmla="val 9024489"/>
            <a:gd name="adj5" fmla="val 454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930195-42A6-44AA-95E7-18965A0571CB}">
      <dsp:nvSpPr>
        <dsp:cNvPr id="0" name=""/>
        <dsp:cNvSpPr/>
      </dsp:nvSpPr>
      <dsp:spPr>
        <a:xfrm>
          <a:off x="468974" y="2539364"/>
          <a:ext cx="1867987" cy="742837"/>
        </a:xfrm>
        <a:prstGeom prst="roundRect">
          <a:avLst>
            <a:gd name="adj" fmla="val 10000"/>
          </a:avLst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Load</a:t>
          </a:r>
        </a:p>
      </dsp:txBody>
      <dsp:txXfrm>
        <a:off x="490731" y="2561121"/>
        <a:ext cx="1824473" cy="699323"/>
      </dsp:txXfrm>
    </dsp:sp>
    <dsp:sp modelId="{696F4333-7E75-408D-A26D-738DCC1B3DD4}">
      <dsp:nvSpPr>
        <dsp:cNvPr id="0" name=""/>
        <dsp:cNvSpPr/>
      </dsp:nvSpPr>
      <dsp:spPr>
        <a:xfrm>
          <a:off x="2801482" y="1177496"/>
          <a:ext cx="2101486" cy="1733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FinBert</a:t>
          </a:r>
          <a:r>
            <a:rPr lang="en-US" sz="1800" kern="1200" dirty="0"/>
            <a:t> Sentiment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Quantitative Features</a:t>
          </a:r>
        </a:p>
      </dsp:txBody>
      <dsp:txXfrm>
        <a:off x="2841370" y="1588802"/>
        <a:ext cx="2021710" cy="1282092"/>
      </dsp:txXfrm>
    </dsp:sp>
    <dsp:sp modelId="{530310F3-6426-4A1F-B069-7FF0CB48C678}">
      <dsp:nvSpPr>
        <dsp:cNvPr id="0" name=""/>
        <dsp:cNvSpPr/>
      </dsp:nvSpPr>
      <dsp:spPr>
        <a:xfrm>
          <a:off x="3929737" y="52094"/>
          <a:ext cx="2772906" cy="2772906"/>
        </a:xfrm>
        <a:prstGeom prst="circularArrow">
          <a:avLst>
            <a:gd name="adj1" fmla="val 3518"/>
            <a:gd name="adj2" fmla="val 436683"/>
            <a:gd name="adj3" fmla="val 19387806"/>
            <a:gd name="adj4" fmla="val 12575511"/>
            <a:gd name="adj5" fmla="val 410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E0B82-5960-4B8D-87F9-30C975D836FC}">
      <dsp:nvSpPr>
        <dsp:cNvPr id="0" name=""/>
        <dsp:cNvSpPr/>
      </dsp:nvSpPr>
      <dsp:spPr>
        <a:xfrm>
          <a:off x="3268479" y="806077"/>
          <a:ext cx="1867987" cy="742837"/>
        </a:xfrm>
        <a:prstGeom prst="roundRect">
          <a:avLst>
            <a:gd name="adj" fmla="val 10000"/>
          </a:avLst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Extract</a:t>
          </a:r>
        </a:p>
      </dsp:txBody>
      <dsp:txXfrm>
        <a:off x="3290236" y="827834"/>
        <a:ext cx="1824473" cy="699323"/>
      </dsp:txXfrm>
    </dsp:sp>
    <dsp:sp modelId="{22A388CE-D3DB-479B-A9A1-ED764282A91F}">
      <dsp:nvSpPr>
        <dsp:cNvPr id="0" name=""/>
        <dsp:cNvSpPr/>
      </dsp:nvSpPr>
      <dsp:spPr>
        <a:xfrm>
          <a:off x="5600987" y="1177496"/>
          <a:ext cx="2101486" cy="1733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Ensemble Random Forest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Sentiment Scores + Quantitative Direction</a:t>
          </a:r>
        </a:p>
      </dsp:txBody>
      <dsp:txXfrm>
        <a:off x="5640875" y="1217384"/>
        <a:ext cx="2021710" cy="1282092"/>
      </dsp:txXfrm>
    </dsp:sp>
    <dsp:sp modelId="{6F5F35FA-0861-4D77-8064-CB85EBFFA2E0}">
      <dsp:nvSpPr>
        <dsp:cNvPr id="0" name=""/>
        <dsp:cNvSpPr/>
      </dsp:nvSpPr>
      <dsp:spPr>
        <a:xfrm>
          <a:off x="6746755" y="1463840"/>
          <a:ext cx="2504382" cy="2504382"/>
        </a:xfrm>
        <a:prstGeom prst="leftCircularArrow">
          <a:avLst>
            <a:gd name="adj1" fmla="val 3895"/>
            <a:gd name="adj2" fmla="val 487902"/>
            <a:gd name="adj3" fmla="val 2263413"/>
            <a:gd name="adj4" fmla="val 9024489"/>
            <a:gd name="adj5" fmla="val 454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19232-A8EA-4D44-A07B-8CF4AD2454C8}">
      <dsp:nvSpPr>
        <dsp:cNvPr id="0" name=""/>
        <dsp:cNvSpPr/>
      </dsp:nvSpPr>
      <dsp:spPr>
        <a:xfrm>
          <a:off x="6067984" y="2539364"/>
          <a:ext cx="1867987" cy="742837"/>
        </a:xfrm>
        <a:prstGeom prst="roundRect">
          <a:avLst>
            <a:gd name="adj" fmla="val 10000"/>
          </a:avLst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Model</a:t>
          </a:r>
        </a:p>
      </dsp:txBody>
      <dsp:txXfrm>
        <a:off x="6089741" y="2561121"/>
        <a:ext cx="1824473" cy="699323"/>
      </dsp:txXfrm>
    </dsp:sp>
    <dsp:sp modelId="{1C82886B-1C36-45C6-B4E9-402BF25B789E}">
      <dsp:nvSpPr>
        <dsp:cNvPr id="0" name=""/>
        <dsp:cNvSpPr/>
      </dsp:nvSpPr>
      <dsp:spPr>
        <a:xfrm>
          <a:off x="8400493" y="1177496"/>
          <a:ext cx="2101486" cy="173328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Output Probabilities generate Buy/Sell Guidance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Accuracy based on D+1, D+7, &amp; D+28</a:t>
          </a:r>
        </a:p>
      </dsp:txBody>
      <dsp:txXfrm>
        <a:off x="8440381" y="1588802"/>
        <a:ext cx="2021710" cy="1282092"/>
      </dsp:txXfrm>
    </dsp:sp>
    <dsp:sp modelId="{B755AD33-A5EC-45FE-8D1D-DBEE17CF0AE0}">
      <dsp:nvSpPr>
        <dsp:cNvPr id="0" name=""/>
        <dsp:cNvSpPr/>
      </dsp:nvSpPr>
      <dsp:spPr>
        <a:xfrm>
          <a:off x="8867490" y="806077"/>
          <a:ext cx="1867987" cy="742837"/>
        </a:xfrm>
        <a:prstGeom prst="roundRect">
          <a:avLst>
            <a:gd name="adj" fmla="val 10000"/>
          </a:avLst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8001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Predict</a:t>
          </a:r>
        </a:p>
      </dsp:txBody>
      <dsp:txXfrm>
        <a:off x="8889247" y="827834"/>
        <a:ext cx="1824473" cy="6993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4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85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992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607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55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9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869576"/>
            <a:ext cx="12191998" cy="3215641"/>
          </a:xfrm>
        </p:spPr>
        <p:txBody>
          <a:bodyPr anchor="b"/>
          <a:lstStyle/>
          <a:p>
            <a:r>
              <a:rPr lang="en-US" sz="4400" dirty="0"/>
              <a:t>Generating Investment Guidance Using Sentiment </a:t>
            </a:r>
            <a:br>
              <a:rPr lang="en-US" sz="4400" dirty="0"/>
            </a:br>
            <a:r>
              <a:rPr lang="en-US" sz="4400" dirty="0"/>
              <a:t>&amp; Quantitative Analysis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17475"/>
            <a:ext cx="12191997" cy="2577772"/>
          </a:xfrm>
        </p:spPr>
        <p:txBody>
          <a:bodyPr/>
          <a:lstStyle/>
          <a:p>
            <a:pPr algn="r"/>
            <a:r>
              <a:rPr lang="en-US" sz="2400" dirty="0">
                <a:solidFill>
                  <a:schemeClr val="accent2"/>
                </a:solidFill>
              </a:rPr>
              <a:t>Group 12</a:t>
            </a:r>
          </a:p>
          <a:p>
            <a:pPr algn="r"/>
            <a:r>
              <a:rPr lang="en-US" sz="2400" dirty="0">
                <a:solidFill>
                  <a:schemeClr val="accent2"/>
                </a:solidFill>
              </a:rPr>
              <a:t>Anish Srinivasan &amp; </a:t>
            </a:r>
          </a:p>
          <a:p>
            <a:pPr algn="r"/>
            <a:r>
              <a:rPr lang="en-US" sz="2400" dirty="0">
                <a:solidFill>
                  <a:schemeClr val="accent2"/>
                </a:solidFill>
              </a:rPr>
              <a:t>Jake Lane</a:t>
            </a:r>
          </a:p>
          <a:p>
            <a:pPr algn="r"/>
            <a:r>
              <a:rPr lang="en-US" sz="2400" dirty="0">
                <a:solidFill>
                  <a:schemeClr val="accent2"/>
                </a:solidFill>
              </a:rPr>
              <a:t>AIT626-001</a:t>
            </a:r>
          </a:p>
          <a:p>
            <a:pPr algn="r"/>
            <a:r>
              <a:rPr lang="en-US" sz="2400" dirty="0">
                <a:solidFill>
                  <a:schemeClr val="accent2"/>
                </a:solidFill>
              </a:rPr>
              <a:t>Dr. Liao</a:t>
            </a:r>
          </a:p>
          <a:p>
            <a:pPr algn="r"/>
            <a:r>
              <a:rPr lang="en-US" sz="2400" dirty="0">
                <a:solidFill>
                  <a:schemeClr val="accent2"/>
                </a:solidFill>
              </a:rPr>
              <a:t>11/20/2025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566" y="1192304"/>
            <a:ext cx="2711823" cy="1109685"/>
          </a:xfrm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33631" y="2671762"/>
            <a:ext cx="2584213" cy="3768499"/>
          </a:xfrm>
        </p:spPr>
        <p:txBody>
          <a:bodyPr numCol="1" anchor="t"/>
          <a:lstStyle/>
          <a:p>
            <a:pPr marL="34290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700" dirty="0"/>
              <a:t>Introduction</a:t>
            </a:r>
          </a:p>
          <a:p>
            <a:pPr marL="34290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700" dirty="0"/>
              <a:t>Key Terms</a:t>
            </a:r>
          </a:p>
          <a:p>
            <a:pPr marL="34290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700" dirty="0"/>
              <a:t>Objectives</a:t>
            </a:r>
          </a:p>
          <a:p>
            <a:pPr marL="34290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700" dirty="0"/>
              <a:t>Data and Setup</a:t>
            </a:r>
          </a:p>
          <a:p>
            <a:pPr marL="34290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700" dirty="0"/>
              <a:t>Pipeline Model</a:t>
            </a:r>
          </a:p>
          <a:p>
            <a:pPr marL="34290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700" dirty="0"/>
              <a:t>Baseline Solution</a:t>
            </a:r>
          </a:p>
          <a:p>
            <a:pPr marL="34290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700" dirty="0"/>
              <a:t>Baseline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8A3B0-061C-8E15-0E19-C8C6C7122C31}"/>
              </a:ext>
            </a:extLst>
          </p:cNvPr>
          <p:cNvSpPr txBox="1"/>
          <p:nvPr/>
        </p:nvSpPr>
        <p:spPr>
          <a:xfrm>
            <a:off x="2575249" y="2637645"/>
            <a:ext cx="3369129" cy="3329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 startAt="10"/>
            </a:pPr>
            <a:r>
              <a:rPr lang="en-US" dirty="0">
                <a:solidFill>
                  <a:schemeClr val="bg1"/>
                </a:solidFill>
              </a:rPr>
              <a:t>Quantitative-Only Model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10"/>
            </a:pPr>
            <a:r>
              <a:rPr lang="en-US" dirty="0">
                <a:solidFill>
                  <a:schemeClr val="bg1"/>
                </a:solidFill>
              </a:rPr>
              <a:t>Enhanced Hybrid Solution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10"/>
            </a:pPr>
            <a:r>
              <a:rPr lang="en-US" dirty="0">
                <a:solidFill>
                  <a:schemeClr val="bg1"/>
                </a:solidFill>
              </a:rPr>
              <a:t>Ensemble Model Results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10"/>
            </a:pPr>
            <a:r>
              <a:rPr lang="en-US" dirty="0">
                <a:solidFill>
                  <a:schemeClr val="bg1"/>
                </a:solidFill>
              </a:rPr>
              <a:t>Investment Results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10"/>
            </a:pPr>
            <a:r>
              <a:rPr lang="en-US" dirty="0">
                <a:solidFill>
                  <a:schemeClr val="bg1"/>
                </a:solidFill>
              </a:rPr>
              <a:t>Conclusion and Takeaways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 startAt="10"/>
            </a:pPr>
            <a:r>
              <a:rPr lang="en-US" dirty="0">
                <a:solidFill>
                  <a:schemeClr val="bg1"/>
                </a:solidFill>
              </a:rPr>
              <a:t>Limitations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8" y="2001784"/>
            <a:ext cx="8578503" cy="423236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The Challenge:</a:t>
            </a:r>
            <a:r>
              <a:rPr lang="en-US" b="1" dirty="0"/>
              <a:t> </a:t>
            </a:r>
            <a:r>
              <a:rPr lang="en-US" dirty="0"/>
              <a:t>Earnings Call Transcripts (ECTs) as Information Sources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ECTs are one of the richest sources of forward-looking information for investors.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They combine quantitative performance metrics (e.g., EPS, revenue) with qualitative managerial commentary.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developed an NLP system to automatically generate BUY/SELL investment guidance by integrating sentiment and quantitative data.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 dirty="0"/>
              <a:t>Related Work Insights: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Actionable guidance requires combining linguistic tone with quantitative understanding.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• Numeral-aware modeling greatly enhances financial text reliability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4F1EF-8179-813B-96D9-47DCEA1F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7B38197-EF0F-CB99-D361-2280AF075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BE698003-0614-DC61-B99A-FA1325137F2B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24137" y="2116568"/>
            <a:ext cx="10738065" cy="3478212"/>
          </a:xfrm>
        </p:spPr>
        <p:txBody>
          <a:bodyPr/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Earnings Call (EC) </a:t>
            </a:r>
            <a:r>
              <a:rPr lang="en-US" dirty="0">
                <a:solidFill>
                  <a:schemeClr val="bg1"/>
                </a:solidFill>
              </a:rPr>
              <a:t>– Conference calls where company executives discuss their financial performance and future outlook with analysts and investors.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Revenue</a:t>
            </a:r>
            <a:r>
              <a:rPr lang="en-US" dirty="0">
                <a:solidFill>
                  <a:schemeClr val="bg1"/>
                </a:solidFill>
              </a:rPr>
              <a:t> – Total income a business generates from its normal operations.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Earnings Per Share (EPS) </a:t>
            </a:r>
            <a:r>
              <a:rPr lang="en-US" dirty="0">
                <a:solidFill>
                  <a:schemeClr val="bg1"/>
                </a:solidFill>
              </a:rPr>
              <a:t>– A key financial metric representing a company's profit allocated to each outstanding share of common stock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Margin</a:t>
            </a:r>
            <a:r>
              <a:rPr lang="en-US" dirty="0">
                <a:solidFill>
                  <a:schemeClr val="bg1"/>
                </a:solidFill>
              </a:rPr>
              <a:t> - A company's profit after accounting for various costs. It is calculated as a company's revenue minus its costs, divided by its revenue.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</a:rPr>
              <a:t>FinBERT</a:t>
            </a:r>
            <a:r>
              <a:rPr lang="en-US" dirty="0">
                <a:solidFill>
                  <a:schemeClr val="bg1"/>
                </a:solidFill>
              </a:rPr>
              <a:t> - A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transformer model fine-tuned on financial text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A9024-8EF3-6FDA-BE82-F746E9B1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F91B8C2-84E5-FCDF-C50B-50BC0607E1CF}"/>
              </a:ext>
            </a:extLst>
          </p:cNvPr>
          <p:cNvSpPr txBox="1">
            <a:spLocks/>
          </p:cNvSpPr>
          <p:nvPr/>
        </p:nvSpPr>
        <p:spPr>
          <a:xfrm>
            <a:off x="6889627" y="1989269"/>
            <a:ext cx="2541244" cy="5755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0" baseline="0">
                <a:solidFill>
                  <a:schemeClr val="accent3">
                    <a:lumMod val="75000"/>
                  </a:schemeClr>
                </a:solidFill>
                <a:latin typeface="+mj-lt"/>
                <a:ea typeface="+mj-ea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0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011580" y="2176432"/>
            <a:ext cx="9619129" cy="4334209"/>
          </a:xfrm>
        </p:spPr>
        <p:txBody>
          <a:bodyPr/>
          <a:lstStyle/>
          <a:p>
            <a:r>
              <a:rPr lang="en-US" b="1" dirty="0"/>
              <a:t>Goal: </a:t>
            </a:r>
            <a:r>
              <a:rPr lang="en-US" dirty="0"/>
              <a:t>Develop and evaluate a hybrid model for predicting post-earnings stock direction.</a:t>
            </a:r>
          </a:p>
          <a:p>
            <a:r>
              <a:rPr lang="en-US" dirty="0"/>
              <a:t>1. Extraction: Extract key financial metrics (EPS, revenue, margins, guidance, debt) using </a:t>
            </a:r>
            <a:r>
              <a:rPr lang="en-US" dirty="0" err="1"/>
              <a:t>spaCy</a:t>
            </a:r>
            <a:r>
              <a:rPr lang="en-US" dirty="0"/>
              <a:t>-based pattern recognition.</a:t>
            </a:r>
          </a:p>
          <a:p>
            <a:r>
              <a:rPr lang="en-US" dirty="0"/>
              <a:t>2. Sentiment Classification: Apply </a:t>
            </a:r>
            <a:r>
              <a:rPr lang="en-US" dirty="0" err="1"/>
              <a:t>FinBERT</a:t>
            </a:r>
            <a:r>
              <a:rPr lang="en-US" dirty="0"/>
              <a:t> to classify each quantitative sentence's sentiment (positive, neutral, or negative).</a:t>
            </a:r>
          </a:p>
          <a:p>
            <a:r>
              <a:rPr lang="en-US" dirty="0"/>
              <a:t>3. Recommendation Generation: Aggregate dominant sentiment to generate BUY/SELL recommendations.</a:t>
            </a:r>
          </a:p>
          <a:p>
            <a:r>
              <a:rPr lang="en-US" dirty="0"/>
              <a:t>4. Prediction Linkage: Link predictions to post-earnings stock returns over +1, +7, and +28 day horizons.</a:t>
            </a:r>
          </a:p>
          <a:p>
            <a:r>
              <a:rPr lang="en-US" dirty="0"/>
              <a:t>5. Evaluation: Evaluate the baseline (sentiment-only) and develop the enhanced hybrid model.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A92CB-FFD2-EEF8-8B45-A6270270B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Data &amp; Setup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1679" y="2130195"/>
            <a:ext cx="10500989" cy="3920981"/>
          </a:xfrm>
        </p:spPr>
        <p:txBody>
          <a:bodyPr/>
          <a:lstStyle/>
          <a:p>
            <a:r>
              <a:rPr lang="en-US" b="1" dirty="0"/>
              <a:t>Data Corpus:</a:t>
            </a:r>
          </a:p>
          <a:p>
            <a:r>
              <a:rPr lang="en-US" dirty="0"/>
              <a:t>• </a:t>
            </a:r>
            <a:r>
              <a:rPr lang="en-US" b="1" dirty="0"/>
              <a:t>Size</a:t>
            </a:r>
            <a:r>
              <a:rPr lang="en-US" dirty="0"/>
              <a:t>: 100 Earnings Call Transcripts</a:t>
            </a:r>
          </a:p>
          <a:p>
            <a:r>
              <a:rPr lang="en-US" dirty="0"/>
              <a:t>• </a:t>
            </a:r>
            <a:r>
              <a:rPr lang="en-US" b="1" dirty="0"/>
              <a:t>Time Span</a:t>
            </a:r>
            <a:r>
              <a:rPr lang="en-US" dirty="0"/>
              <a:t>: Various Quarters from 2012–2022.</a:t>
            </a:r>
          </a:p>
          <a:p>
            <a:r>
              <a:rPr lang="en-US" dirty="0"/>
              <a:t>• </a:t>
            </a:r>
            <a:r>
              <a:rPr lang="en-US" b="1" dirty="0"/>
              <a:t>Sources</a:t>
            </a:r>
            <a:r>
              <a:rPr lang="en-US" dirty="0"/>
              <a:t>: Combines the Earnings2Insights transcripts, supplemented with 36 ECTs scraped from Morningstar and Yahoo Finance.</a:t>
            </a:r>
          </a:p>
          <a:p>
            <a:r>
              <a:rPr lang="en-US" b="1" dirty="0"/>
              <a:t>Target Variable (Stock Movement):</a:t>
            </a:r>
          </a:p>
          <a:p>
            <a:r>
              <a:rPr lang="en-US" dirty="0"/>
              <a:t>• Transcript data merged with company price series.</a:t>
            </a:r>
          </a:p>
          <a:p>
            <a:r>
              <a:rPr lang="en-US" dirty="0"/>
              <a:t>• Market reaction is measured using </a:t>
            </a:r>
            <a:r>
              <a:rPr lang="en-US" dirty="0" err="1"/>
              <a:t>ECTDay</a:t>
            </a:r>
            <a:r>
              <a:rPr lang="en-US" dirty="0"/>
              <a:t>, </a:t>
            </a:r>
            <a:r>
              <a:rPr lang="en-US" dirty="0" err="1"/>
              <a:t>ECTDay</a:t>
            </a:r>
            <a:r>
              <a:rPr lang="en-US" dirty="0"/>
              <a:t> +1, </a:t>
            </a:r>
            <a:r>
              <a:rPr lang="en-US" dirty="0" err="1"/>
              <a:t>ECTDay</a:t>
            </a:r>
            <a:r>
              <a:rPr lang="en-US" dirty="0"/>
              <a:t> +7, and </a:t>
            </a:r>
            <a:r>
              <a:rPr lang="en-US" dirty="0" err="1"/>
              <a:t>ECTDay</a:t>
            </a:r>
            <a:r>
              <a:rPr lang="en-US" dirty="0"/>
              <a:t> +28 prices.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A9024-8EF3-6FDA-BE82-F746E9B1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6DAF2F9-C10B-AE5A-97C3-0614D50D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700"/>
            <a:ext cx="12191994" cy="875367"/>
          </a:xfrm>
        </p:spPr>
        <p:txBody>
          <a:bodyPr/>
          <a:lstStyle/>
          <a:p>
            <a:r>
              <a:rPr lang="en-US" dirty="0"/>
              <a:t>Pipeline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6982F-02DB-FA2D-56D9-DC7926B09C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3B52DCE-118D-D6A8-7860-2685F76A68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1720570"/>
              </p:ext>
            </p:extLst>
          </p:nvPr>
        </p:nvGraphicFramePr>
        <p:xfrm>
          <a:off x="727272" y="1799337"/>
          <a:ext cx="10737455" cy="4088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245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Baseline 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50777" y="2121592"/>
            <a:ext cx="9033394" cy="4295113"/>
          </a:xfrm>
        </p:spPr>
        <p:txBody>
          <a:bodyPr numCol="2" spcCol="182880"/>
          <a:lstStyle/>
          <a:p>
            <a:pPr marL="0" indent="0">
              <a:buNone/>
            </a:pPr>
            <a:r>
              <a:rPr lang="en-US" b="1" dirty="0"/>
              <a:t>Approach: </a:t>
            </a:r>
            <a:r>
              <a:rPr lang="en-US" dirty="0"/>
              <a:t>Sentiment-Driven Model </a:t>
            </a:r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Feature Identification</a:t>
            </a:r>
            <a:r>
              <a:rPr lang="en-US" dirty="0"/>
              <a:t>: Use </a:t>
            </a:r>
            <a:r>
              <a:rPr lang="en-US" dirty="0" err="1"/>
              <a:t>spaCy</a:t>
            </a:r>
            <a:r>
              <a:rPr lang="en-US" dirty="0"/>
              <a:t> to identify quantitative sentences.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Sentiment Application</a:t>
            </a:r>
            <a:r>
              <a:rPr lang="en-US" dirty="0"/>
              <a:t>: Apply </a:t>
            </a:r>
            <a:r>
              <a:rPr lang="en-US" dirty="0" err="1"/>
              <a:t>FinBERT</a:t>
            </a:r>
            <a:r>
              <a:rPr lang="en-US" dirty="0"/>
              <a:t> to evaluate the tone within these sentences.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Aggregation</a:t>
            </a:r>
            <a:r>
              <a:rPr lang="en-US" dirty="0"/>
              <a:t>: Sentiment counts were aggregated per (Ticker, Quarter, Year) to identify a dominant sentiment.</a:t>
            </a:r>
          </a:p>
          <a:p>
            <a:pPr marL="0" indent="0">
              <a:buNone/>
            </a:pPr>
            <a:endParaRPr lang="en-US" dirty="0"/>
          </a:p>
          <a:p>
            <a:pPr marL="625475" indent="-336550">
              <a:buNone/>
            </a:pPr>
            <a:r>
              <a:rPr lang="en-US" dirty="0"/>
              <a:t>4. </a:t>
            </a:r>
            <a:r>
              <a:rPr lang="en-US" b="1" dirty="0"/>
              <a:t>Recommendation Logic</a:t>
            </a:r>
            <a:r>
              <a:rPr lang="en-US" dirty="0"/>
              <a:t>:</a:t>
            </a:r>
          </a:p>
          <a:p>
            <a:pPr marL="625475" indent="-336550"/>
            <a:r>
              <a:rPr lang="en-US" dirty="0"/>
              <a:t>Positive/Neutral sentiment = BUY recommendation.</a:t>
            </a:r>
          </a:p>
          <a:p>
            <a:pPr marL="625475" indent="-336550"/>
            <a:r>
              <a:rPr lang="en-US" dirty="0"/>
              <a:t>Negative sentiment = SELL recommendation.</a:t>
            </a:r>
          </a:p>
          <a:p>
            <a:pPr marL="625475" indent="-336550">
              <a:buNone/>
            </a:pPr>
            <a:r>
              <a:rPr lang="en-US" b="1" dirty="0"/>
              <a:t>Accuracy Definition</a:t>
            </a:r>
            <a:r>
              <a:rPr lang="en-US" dirty="0"/>
              <a:t>: Correct if the price increased after a BUY recommendation or decreased after a SELL recommendation.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4F1EF-8179-813B-96D9-47DCEA1F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684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pPr lvl="0"/>
            <a:r>
              <a:rPr lang="en-US" noProof="0" dirty="0"/>
              <a:t>Baseline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645" y="2798561"/>
            <a:ext cx="4497355" cy="4059439"/>
          </a:xfrm>
        </p:spPr>
        <p:txBody>
          <a:bodyPr/>
          <a:lstStyle/>
          <a:p>
            <a:r>
              <a:rPr lang="en-US" b="1" dirty="0"/>
              <a:t>Strong BUY Bias: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93 percent BUY recommendations vs. 7 percent SELL recommendations.</a:t>
            </a:r>
          </a:p>
          <a:p>
            <a:pPr marL="854964" lvl="1"/>
            <a:r>
              <a:rPr lang="en-US" dirty="0"/>
              <a:t>Executives rarely use negative tone even during weak performance, leading to transcripts that tend to sound positive or neutral</a:t>
            </a:r>
          </a:p>
          <a:p>
            <a:pPr marL="288925" indent="-288925">
              <a:buFont typeface="Arial" panose="020B0604020202020204" pitchFamily="34" charset="0"/>
              <a:buChar char="•"/>
            </a:pPr>
            <a:r>
              <a:rPr lang="en-US" dirty="0"/>
              <a:t>Sentiment model only performs better than coin flip at longer time horizon.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7588EB3-ED1D-6AD3-5960-55BD64293774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1558801700"/>
              </p:ext>
            </p:extLst>
          </p:nvPr>
        </p:nvGraphicFramePr>
        <p:xfrm>
          <a:off x="6313395" y="1232700"/>
          <a:ext cx="4773455" cy="489377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09705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</a:rPr>
                        <a:t>Sentiment-Only Prediction Accuracy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286258"/>
                  </a:ext>
                </a:extLst>
              </a:tr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b="1" dirty="0">
                          <a:latin typeface="+mn-lt"/>
                        </a:rPr>
                        <a:t>Stock Change</a:t>
                      </a:r>
                    </a:p>
                    <a:p>
                      <a:pPr algn="ctr"/>
                      <a:r>
                        <a:rPr lang="en-US" b="1" dirty="0">
                          <a:latin typeface="+mn-lt"/>
                        </a:rPr>
                        <a:t>Days Post-EC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b="1" dirty="0">
                          <a:latin typeface="+mn-lt"/>
                        </a:rPr>
                        <a:t>ACCURACY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EC Day + 1</a:t>
                      </a:r>
                    </a:p>
                    <a:p>
                      <a:pPr algn="ctr"/>
                      <a:r>
                        <a:rPr lang="en-US" dirty="0">
                          <a:latin typeface="+mn-lt"/>
                        </a:rPr>
                        <a:t>(Next Day)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55%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EC Day + 7</a:t>
                      </a:r>
                    </a:p>
                    <a:p>
                      <a:pPr algn="ctr"/>
                      <a:r>
                        <a:rPr lang="en-US" dirty="0">
                          <a:latin typeface="+mn-lt"/>
                        </a:rPr>
                        <a:t>(Next Week)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55%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EC Day + 28</a:t>
                      </a:r>
                    </a:p>
                    <a:p>
                      <a:pPr algn="ctr"/>
                      <a:r>
                        <a:rPr lang="en-US" dirty="0">
                          <a:latin typeface="+mn-lt"/>
                        </a:rPr>
                        <a:t>(Next Month)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66%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87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Quantitative-Only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52A37-0378-263F-2DDC-ACACAB28B0EA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096000" y="3018859"/>
            <a:ext cx="5788171" cy="2565920"/>
          </a:xfrm>
        </p:spPr>
        <p:txBody>
          <a:bodyPr/>
          <a:lstStyle/>
          <a:p>
            <a:r>
              <a:rPr lang="en-US" b="1" dirty="0"/>
              <a:t>Approach: </a:t>
            </a:r>
            <a:r>
              <a:rPr lang="en-US" dirty="0"/>
              <a:t>Simplified majority-rule classifier based on whether most key financial metrics increased or decreased (directional label UP or DOWN).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Underperformed the sentiment-only baseline at all time horizons.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Oversimplifies performance by majority vote.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C4F1EF-8179-813B-96D9-47DCEA1F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17" name="Table Placeholder 2">
            <a:extLst>
              <a:ext uri="{FF2B5EF4-FFF2-40B4-BE49-F238E27FC236}">
                <a16:creationId xmlns:a16="http://schemas.microsoft.com/office/drawing/2014/main" id="{20AC4E42-9A98-70A9-B210-B806FCF5CACC}"/>
              </a:ext>
            </a:extLst>
          </p:cNvPr>
          <p:cNvGraphicFramePr>
            <a:graphicFrameLocks noGrp="1"/>
          </p:cNvGraphicFramePr>
          <p:nvPr>
            <p:ph type="pic" sz="quarter" idx="37"/>
            <p:extLst>
              <p:ext uri="{D42A27DB-BD31-4B8C-83A1-F6EECF244321}">
                <p14:modId xmlns:p14="http://schemas.microsoft.com/office/powerpoint/2010/main" val="805792504"/>
              </p:ext>
            </p:extLst>
          </p:nvPr>
        </p:nvGraphicFramePr>
        <p:xfrm>
          <a:off x="528919" y="1246522"/>
          <a:ext cx="4773455" cy="489377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09705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</a:rPr>
                        <a:t>Quantitative-Only </a:t>
                      </a:r>
                    </a:p>
                    <a:p>
                      <a:pPr algn="ctr"/>
                      <a:r>
                        <a:rPr lang="en-US" sz="2000" b="1" dirty="0">
                          <a:latin typeface="+mn-lt"/>
                        </a:rPr>
                        <a:t>Prediction Accuracy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286258"/>
                  </a:ext>
                </a:extLst>
              </a:tr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b="1" dirty="0">
                          <a:latin typeface="+mn-lt"/>
                        </a:rPr>
                        <a:t>Stock Change</a:t>
                      </a:r>
                    </a:p>
                    <a:p>
                      <a:pPr algn="ctr"/>
                      <a:r>
                        <a:rPr lang="en-US" b="1" dirty="0">
                          <a:latin typeface="+mn-lt"/>
                        </a:rPr>
                        <a:t>Days Post-EC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b="1" dirty="0">
                          <a:latin typeface="+mn-lt"/>
                        </a:rPr>
                        <a:t>ACCURACY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EC Day + 1</a:t>
                      </a:r>
                    </a:p>
                    <a:p>
                      <a:pPr algn="ctr"/>
                      <a:r>
                        <a:rPr lang="en-US" dirty="0">
                          <a:latin typeface="+mn-lt"/>
                        </a:rPr>
                        <a:t>(Next Day)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45%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EC Day + 7</a:t>
                      </a:r>
                    </a:p>
                    <a:p>
                      <a:pPr algn="ctr"/>
                      <a:r>
                        <a:rPr lang="en-US" dirty="0">
                          <a:latin typeface="+mn-lt"/>
                        </a:rPr>
                        <a:t>(Next Week)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47%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EC Day + 28</a:t>
                      </a:r>
                    </a:p>
                    <a:p>
                      <a:pPr algn="ctr"/>
                      <a:r>
                        <a:rPr lang="en-US" dirty="0">
                          <a:latin typeface="+mn-lt"/>
                        </a:rPr>
                        <a:t>(Next Month)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58%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349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Hybrid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/>
              <a:t>Goal: </a:t>
            </a:r>
            <a:r>
              <a:rPr lang="en-US" dirty="0"/>
              <a:t>Re-integrate quantitative data into the sentiment framework to address weaknesses.</a:t>
            </a:r>
          </a:p>
          <a:p>
            <a:r>
              <a:rPr lang="en-US" b="1" dirty="0"/>
              <a:t>Combined Features: </a:t>
            </a:r>
            <a:r>
              <a:rPr lang="en-US" dirty="0" err="1"/>
              <a:t>FinBERT</a:t>
            </a:r>
            <a:r>
              <a:rPr lang="en-US" dirty="0"/>
              <a:t> sentiment scores combined with quantitative features from </a:t>
            </a:r>
            <a:r>
              <a:rPr lang="en-US" dirty="0" err="1"/>
              <a:t>Quantative</a:t>
            </a:r>
            <a:r>
              <a:rPr lang="en-US" dirty="0"/>
              <a:t>-only models.</a:t>
            </a:r>
          </a:p>
          <a:p>
            <a:r>
              <a:rPr lang="en-US" b="1" dirty="0"/>
              <a:t>Classifier: </a:t>
            </a:r>
            <a:r>
              <a:rPr lang="en-US" dirty="0"/>
              <a:t>Apply an ensemble random forest–based learner (gradient-boosted trees).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A92CB-FFD2-EEF8-8B45-A6270270BD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226175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795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E3104-398C-EF95-D86E-630F5124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171396"/>
            <a:ext cx="3736630" cy="2202350"/>
          </a:xfrm>
        </p:spPr>
        <p:txBody>
          <a:bodyPr/>
          <a:lstStyle/>
          <a:p>
            <a:r>
              <a:rPr lang="en-US" sz="3200" dirty="0"/>
              <a:t>Ensemble Model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28E6B-D306-C2F9-54E9-FD35599AC24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4646" y="2789231"/>
            <a:ext cx="4497354" cy="37795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Short-term prediction worsened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Long-term prediction improved significantly: The D+28 accuracy of 71.43 percent is the best performance of any method tested by 7.5%.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Combining sentiment tone and metric direction captures complementary information about longer-term outlooks.</a:t>
            </a:r>
          </a:p>
        </p:txBody>
      </p:sp>
      <p:graphicFrame>
        <p:nvGraphicFramePr>
          <p:cNvPr id="8" name="Table Placeholder 2">
            <a:extLst>
              <a:ext uri="{FF2B5EF4-FFF2-40B4-BE49-F238E27FC236}">
                <a16:creationId xmlns:a16="http://schemas.microsoft.com/office/drawing/2014/main" id="{5DE9FAB9-4F21-C9D2-BB1C-705DF76FD788}"/>
              </a:ext>
            </a:extLst>
          </p:cNvPr>
          <p:cNvGraphicFramePr>
            <a:graphicFrameLocks noGrp="1"/>
          </p:cNvGraphicFramePr>
          <p:nvPr>
            <p:ph type="tbl" sz="quarter" idx="37"/>
            <p:extLst>
              <p:ext uri="{D42A27DB-BD31-4B8C-83A1-F6EECF244321}">
                <p14:modId xmlns:p14="http://schemas.microsoft.com/office/powerpoint/2010/main" val="3806548252"/>
              </p:ext>
            </p:extLst>
          </p:nvPr>
        </p:nvGraphicFramePr>
        <p:xfrm>
          <a:off x="6322359" y="1272571"/>
          <a:ext cx="4773455" cy="489377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09705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9242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n-lt"/>
                        </a:rPr>
                        <a:t>Ensemble Prediction Accuracy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286258"/>
                  </a:ext>
                </a:extLst>
              </a:tr>
              <a:tr h="9242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b="1" dirty="0">
                          <a:latin typeface="+mn-lt"/>
                        </a:rPr>
                        <a:t>Stock Change</a:t>
                      </a:r>
                    </a:p>
                    <a:p>
                      <a:pPr algn="ctr"/>
                      <a:r>
                        <a:rPr lang="en-US" b="1" dirty="0">
                          <a:latin typeface="+mn-lt"/>
                        </a:rPr>
                        <a:t>Days Post-EC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b="1" dirty="0">
                          <a:latin typeface="+mn-lt"/>
                        </a:rPr>
                        <a:t>ACCURACY</a:t>
                      </a: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EC Day + 1</a:t>
                      </a:r>
                    </a:p>
                    <a:p>
                      <a:pPr algn="ctr"/>
                      <a:r>
                        <a:rPr lang="en-US" dirty="0">
                          <a:latin typeface="+mn-lt"/>
                        </a:rPr>
                        <a:t>(Next Day)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43%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EC Day + 7</a:t>
                      </a:r>
                    </a:p>
                    <a:p>
                      <a:pPr algn="ctr"/>
                      <a:r>
                        <a:rPr lang="en-US" dirty="0">
                          <a:latin typeface="+mn-lt"/>
                        </a:rPr>
                        <a:t>(Next Week)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1015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EC Day + 28</a:t>
                      </a:r>
                    </a:p>
                    <a:p>
                      <a:pPr algn="ctr"/>
                      <a:r>
                        <a:rPr lang="en-US" dirty="0">
                          <a:latin typeface="+mn-lt"/>
                        </a:rPr>
                        <a:t>(Next Month)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enorite "/>
                        </a:defRPr>
                      </a:lvl9pPr>
                    </a:lstStyle>
                    <a:p>
                      <a:pPr algn="ctr"/>
                      <a:r>
                        <a:rPr lang="en-US" dirty="0">
                          <a:latin typeface="+mn-lt"/>
                        </a:rPr>
                        <a:t>71%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071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B236C2-E799-8B96-E68C-AA9B0903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Investment results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2C168D8-A7EA-7BF5-7465-C7AF471E0D7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118049"/>
            <a:ext cx="10515600" cy="392080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Assuming you owned 1 share of stock in each company on day of EC and followed the best model’s recommendation for buying or selling that stock following the EC: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590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/>
          <a:lstStyle/>
          <a:p>
            <a:r>
              <a:rPr lang="en-US" dirty="0"/>
              <a:t>Conclusion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CECA3-144C-CD4B-9246-81B4F2E654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335903" y="2009992"/>
            <a:ext cx="6876660" cy="458133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Summary of Findings:</a:t>
            </a:r>
          </a:p>
          <a:p>
            <a:pPr>
              <a:lnSpc>
                <a:spcPct val="100000"/>
              </a:lnSpc>
            </a:pPr>
            <a:r>
              <a:rPr lang="en-US" dirty="0"/>
              <a:t>Sentiment and quantitative features each provide partial information about post-EC stock movements.</a:t>
            </a:r>
          </a:p>
          <a:p>
            <a:r>
              <a:rPr lang="en-US" dirty="0"/>
              <a:t>Sentiment alone produced moderate accuracy and a strong BUY bias.</a:t>
            </a:r>
          </a:p>
          <a:p>
            <a:r>
              <a:rPr lang="en-US" dirty="0"/>
              <a:t>Quantitative direction alone offered lower short-term accuracy.</a:t>
            </a:r>
          </a:p>
          <a:p>
            <a:r>
              <a:rPr lang="en-US" dirty="0"/>
              <a:t>The combined ensemble classifier produced mixed results, showing:</a:t>
            </a:r>
          </a:p>
          <a:p>
            <a:pPr lvl="1"/>
            <a:r>
              <a:rPr lang="en-US" dirty="0"/>
              <a:t>Decreased short-term accuracy due to conflicting signals and small sample effects.</a:t>
            </a:r>
          </a:p>
          <a:p>
            <a:pPr lvl="1"/>
            <a:r>
              <a:rPr lang="en-US" dirty="0"/>
              <a:t>The highest overall accuracy (71.43%) for 1 month prediction.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DF6F3-D41D-5794-307C-CB840A80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897" y="6241531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F80D3-0594-E3A0-08B2-745B8689D5FA}"/>
              </a:ext>
            </a:extLst>
          </p:cNvPr>
          <p:cNvSpPr txBox="1"/>
          <p:nvPr/>
        </p:nvSpPr>
        <p:spPr>
          <a:xfrm>
            <a:off x="7436497" y="2009992"/>
            <a:ext cx="4320074" cy="3641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Implications: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findings highlight the inherent difficulty of predicting short-term price reactions from transcript features alone.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Predicting market reactions requires more sophisticated modeling of both textual tone and financial performance details.</a:t>
            </a:r>
          </a:p>
        </p:txBody>
      </p:sp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CA4A7B-B18A-0A86-5C9C-DE1BD2DBB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&amp;</a:t>
            </a:r>
            <a:br>
              <a:rPr lang="en-US" dirty="0"/>
            </a:br>
            <a:r>
              <a:rPr lang="en-US" dirty="0"/>
              <a:t>Future work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6BACB9B-196F-1502-49B0-AC8B5BD5FEF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98180" y="2008975"/>
            <a:ext cx="5397820" cy="3961979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 dirty="0"/>
              <a:t>Current Limitations: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Model performance is highly sensitive to sample size (limited to about 100 transcripts).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 BUY/SELL skew created imbalance in the training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Quantitative signals used only simple directional comparison, ignoring the magnitude or the surprise relative to analyst estimates.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did not incorporate guidance strength or Q&amp;A-specific sentiment weighting, both crucial factors in market reactions.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58415C1-0676-41B1-4AD7-4AD2D8D4658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397696" y="2092315"/>
            <a:ext cx="5237583" cy="3795301"/>
          </a:xfrm>
        </p:spPr>
        <p:txBody>
          <a:bodyPr/>
          <a:lstStyle/>
          <a:p>
            <a:r>
              <a:rPr lang="en-US" b="1" dirty="0"/>
              <a:t>Future Improvements: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Data Expansion</a:t>
            </a:r>
            <a:r>
              <a:rPr lang="en-US" dirty="0"/>
              <a:t>: Expand the dataset to improve model stability.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Advanced Numerical Reasoning</a:t>
            </a:r>
            <a:r>
              <a:rPr lang="en-US" dirty="0"/>
              <a:t>: Incorporate magnitude-based numerical reasoning and analyst expectation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Contextual Weighting</a:t>
            </a:r>
            <a:r>
              <a:rPr lang="en-US" dirty="0"/>
              <a:t>: Separate Q&amp;A from prepared remarks during weighting.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82B2C-A916-D63A-708A-73B37C6A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2733479"/>
            <a:ext cx="10831232" cy="371612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Chen, C.-C., Huang, H.-H., </a:t>
            </a:r>
            <a:r>
              <a:rPr lang="en-US" sz="1600" dirty="0" err="1"/>
              <a:t>Takamura</a:t>
            </a:r>
            <a:r>
              <a:rPr lang="en-US" sz="1600" dirty="0"/>
              <a:t>, H., Chen, H.-H., Okumura, M., &amp; Tseng, Y.-H. (2024). SemEval-2024 Task 7: Numeral-aware language understanding and generation. In Proceedings of the 18th International Workshop on Semantic Evaluation (SemEval-2024) (pp. 259-269). Association for Computational Linguistics.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0" i="0" dirty="0" err="1">
                <a:solidFill>
                  <a:srgbClr val="FFFFFF"/>
                </a:solidFill>
                <a:effectLst/>
              </a:rPr>
              <a:t>Goldsack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, T., </a:t>
            </a:r>
            <a:r>
              <a:rPr lang="en-US" sz="1600" b="0" i="0" dirty="0" err="1">
                <a:solidFill>
                  <a:srgbClr val="FFFFFF"/>
                </a:solidFill>
                <a:effectLst/>
              </a:rPr>
              <a:t>Scarton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, C., </a:t>
            </a:r>
            <a:r>
              <a:rPr lang="en-US" sz="1600" b="0" i="0" dirty="0" err="1">
                <a:solidFill>
                  <a:srgbClr val="FFFFFF"/>
                </a:solidFill>
                <a:effectLst/>
              </a:rPr>
              <a:t>Gritta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, M., </a:t>
            </a:r>
            <a:r>
              <a:rPr lang="en-US" sz="1600" b="0" i="0" dirty="0" err="1">
                <a:solidFill>
                  <a:srgbClr val="FFFFFF"/>
                </a:solidFill>
                <a:effectLst/>
              </a:rPr>
              <a:t>Mtumbuka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, F., Cohen, S., &amp; </a:t>
            </a:r>
            <a:r>
              <a:rPr lang="en-US" sz="1600" b="0" i="0" dirty="0" err="1">
                <a:solidFill>
                  <a:srgbClr val="FFFFFF"/>
                </a:solidFill>
                <a:effectLst/>
              </a:rPr>
              <a:t>Leidner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, J. L. (2025). From facts to insights: A study on the generation and evaluation of analytical reports for deciphering earnings calls. In </a:t>
            </a:r>
            <a:r>
              <a:rPr lang="en-US" sz="1600" b="0" i="1" dirty="0">
                <a:solidFill>
                  <a:srgbClr val="FFFFFF"/>
                </a:solidFill>
                <a:effectLst/>
              </a:rPr>
              <a:t>Proceedings of the 31st International Conference on Computational Linguistics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. International Committee on Computational Linguistics.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FFFFFF"/>
                </a:solidFill>
                <a:effectLst/>
              </a:rPr>
              <a:t>Mukherjee, R., Nag, A., </a:t>
            </a:r>
            <a:r>
              <a:rPr lang="en-US" sz="1600" b="0" i="0" dirty="0" err="1">
                <a:solidFill>
                  <a:srgbClr val="FFFFFF"/>
                </a:solidFill>
                <a:effectLst/>
              </a:rPr>
              <a:t>Hiware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, K., Jain, S., &amp; Patil, A. (2022). </a:t>
            </a:r>
            <a:r>
              <a:rPr lang="en-US" sz="1600" b="0" i="0" dirty="0" err="1">
                <a:solidFill>
                  <a:srgbClr val="FFFFFF"/>
                </a:solidFill>
                <a:effectLst/>
              </a:rPr>
              <a:t>ECTSum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: A new benchmark dataset for bullet point summarization of long earnings call transcripts. In </a:t>
            </a:r>
            <a:r>
              <a:rPr lang="en-US" sz="1600" b="0" i="1" dirty="0">
                <a:solidFill>
                  <a:srgbClr val="FFFFFF"/>
                </a:solidFill>
                <a:effectLst/>
              </a:rPr>
              <a:t>Proceedings of the 2022 Conference on Empirical Methods in Natural Language Processing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 (pp. 4305-4319). Association for Computational Linguistics.</a:t>
            </a:r>
            <a:endParaRPr lang="en-US" sz="1600" dirty="0">
              <a:solidFill>
                <a:srgbClr val="FFFF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FFFFFF"/>
                </a:solidFill>
                <a:effectLst/>
              </a:rPr>
              <a:t>Special Interest Group on Financial Technology (SIG-FinTech). (2025). </a:t>
            </a:r>
            <a:r>
              <a:rPr lang="en-US" sz="1600" b="0" i="1" dirty="0">
                <a:solidFill>
                  <a:srgbClr val="FFFFFF"/>
                </a:solidFill>
                <a:effectLst/>
              </a:rPr>
              <a:t>Earnings2Insights: Analyst report generation for investment guidance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 [Shared task dataset]. </a:t>
            </a:r>
            <a:r>
              <a:rPr lang="en-US" sz="1600" b="0" i="0" dirty="0" err="1">
                <a:solidFill>
                  <a:srgbClr val="FFFFFF"/>
                </a:solidFill>
                <a:effectLst/>
              </a:rPr>
              <a:t>FinNLP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 @ EMNLP-2025. https://sigfintech.github.io/fineval.htmldataset]. </a:t>
            </a:r>
            <a:r>
              <a:rPr lang="en-US" sz="1600" b="0" i="0" dirty="0" err="1">
                <a:solidFill>
                  <a:srgbClr val="FFFFFF"/>
                </a:solidFill>
                <a:effectLst/>
              </a:rPr>
              <a:t>FinNLP</a:t>
            </a:r>
            <a:r>
              <a:rPr lang="en-US" sz="1600" b="0" i="0" dirty="0">
                <a:solidFill>
                  <a:srgbClr val="FFFFFF"/>
                </a:solidFill>
                <a:effectLst/>
              </a:rPr>
              <a:t> @ EMNLP-2025. https://sigfintech.github.io/fineval.html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{961530E3-0206-453D-B037-2D8545944C2E}TFe8699e8e-689b-4d7e-abcf-e888fd749829db3118dc_win32-d573b439b56f</Template>
  <TotalTime>267</TotalTime>
  <Words>1395</Words>
  <Application>Microsoft Office PowerPoint</Application>
  <PresentationFormat>Widescreen</PresentationFormat>
  <Paragraphs>183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Nova</vt:lpstr>
      <vt:lpstr>Biome</vt:lpstr>
      <vt:lpstr>Calibri</vt:lpstr>
      <vt:lpstr>Custom</vt:lpstr>
      <vt:lpstr>Generating Investment Guidance Using Sentiment  &amp; Quantitative Analysis</vt:lpstr>
      <vt:lpstr>Table of Contents</vt:lpstr>
      <vt:lpstr>Introduction</vt:lpstr>
      <vt:lpstr>Key Terms</vt:lpstr>
      <vt:lpstr>Objectives</vt:lpstr>
      <vt:lpstr>Data &amp; Setup</vt:lpstr>
      <vt:lpstr>Pipeline model</vt:lpstr>
      <vt:lpstr>Baseline Solution</vt:lpstr>
      <vt:lpstr>Baseline Results</vt:lpstr>
      <vt:lpstr>Quantitative-Only Model</vt:lpstr>
      <vt:lpstr>Enhanced Hybrid Solution</vt:lpstr>
      <vt:lpstr>Ensemble Model Results</vt:lpstr>
      <vt:lpstr>Investment results</vt:lpstr>
      <vt:lpstr>Conclusion &amp; TAKEAWAYS</vt:lpstr>
      <vt:lpstr>Limitations &amp; Future work</vt:lpstr>
      <vt:lpstr>References</vt:lpstr>
    </vt:vector>
  </TitlesOfParts>
  <Company>Maxar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Lane, Jake</dc:creator>
  <cp:lastModifiedBy>Lane, Jake</cp:lastModifiedBy>
  <cp:revision>7</cp:revision>
  <dcterms:created xsi:type="dcterms:W3CDTF">2025-11-19T14:14:22Z</dcterms:created>
  <dcterms:modified xsi:type="dcterms:W3CDTF">2025-11-19T18:43:42Z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